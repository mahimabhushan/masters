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20"/>
  </p:notesMasterIdLst>
  <p:sldIdLst>
    <p:sldId id="256" r:id="rId2"/>
    <p:sldId id="259" r:id="rId3"/>
    <p:sldId id="257" r:id="rId4"/>
    <p:sldId id="260" r:id="rId5"/>
    <p:sldId id="258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73" r:id="rId14"/>
    <p:sldId id="274" r:id="rId15"/>
    <p:sldId id="275" r:id="rId16"/>
    <p:sldId id="267" r:id="rId17"/>
    <p:sldId id="268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97C7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8"/>
    <p:restoredTop sz="94672"/>
  </p:normalViewPr>
  <p:slideViewPr>
    <p:cSldViewPr snapToGrid="0">
      <p:cViewPr>
        <p:scale>
          <a:sx n="128" d="100"/>
          <a:sy n="128" d="100"/>
        </p:scale>
        <p:origin x="36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BE6280-AB86-4F7D-B908-0D49FFFC1A7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F01818-23DB-48F8-9F5D-D4BAE5CCC7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Logistic Regression</a:t>
          </a:r>
          <a:endParaRPr lang="en-US"/>
        </a:p>
      </dgm:t>
    </dgm:pt>
    <dgm:pt modelId="{DE0E7225-BC8C-4985-B51C-08163D807933}" type="parTrans" cxnId="{A4F1FDAB-9D63-44D2-999C-FFC22ABDDB25}">
      <dgm:prSet/>
      <dgm:spPr/>
      <dgm:t>
        <a:bodyPr/>
        <a:lstStyle/>
        <a:p>
          <a:endParaRPr lang="en-US"/>
        </a:p>
      </dgm:t>
    </dgm:pt>
    <dgm:pt modelId="{B312EC3A-BAA0-43BE-A3B0-1E8DEABC4119}" type="sibTrans" cxnId="{A4F1FDAB-9D63-44D2-999C-FFC22ABDDB25}">
      <dgm:prSet/>
      <dgm:spPr/>
      <dgm:t>
        <a:bodyPr/>
        <a:lstStyle/>
        <a:p>
          <a:endParaRPr lang="en-US"/>
        </a:p>
      </dgm:t>
    </dgm:pt>
    <dgm:pt modelId="{BB99C82A-F79C-4F7E-988E-E20C63A6E1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Linear, interpretable</a:t>
          </a:r>
        </a:p>
      </dgm:t>
    </dgm:pt>
    <dgm:pt modelId="{6AF157C1-3FC1-448D-A952-C57A01818DD0}" type="parTrans" cxnId="{3FBB7C8F-9050-4D4E-9595-71C1553A02D8}">
      <dgm:prSet/>
      <dgm:spPr/>
      <dgm:t>
        <a:bodyPr/>
        <a:lstStyle/>
        <a:p>
          <a:endParaRPr lang="en-US"/>
        </a:p>
      </dgm:t>
    </dgm:pt>
    <dgm:pt modelId="{6CBAB5AD-8EE4-4DB9-9425-A762C5703EC1}" type="sibTrans" cxnId="{3FBB7C8F-9050-4D4E-9595-71C1553A02D8}">
      <dgm:prSet/>
      <dgm:spPr/>
      <dgm:t>
        <a:bodyPr/>
        <a:lstStyle/>
        <a:p>
          <a:endParaRPr lang="en-US"/>
        </a:p>
      </dgm:t>
    </dgm:pt>
    <dgm:pt modelId="{DEBE4863-9FA5-47BB-902F-008CC02C6BD7}">
      <dgm:prSet/>
      <dgm:spPr/>
      <dgm:t>
        <a:bodyPr/>
        <a:lstStyle/>
        <a:p>
          <a:r>
            <a:rPr lang="en-US" dirty="0"/>
            <a:t>Best recall</a:t>
          </a:r>
        </a:p>
      </dgm:t>
    </dgm:pt>
    <dgm:pt modelId="{2C06ED31-44F4-4E91-BA94-CE81920FF66B}" type="parTrans" cxnId="{8EFD84AF-20BE-4346-8B59-47A7061D60C1}">
      <dgm:prSet/>
      <dgm:spPr/>
      <dgm:t>
        <a:bodyPr/>
        <a:lstStyle/>
        <a:p>
          <a:endParaRPr lang="en-US"/>
        </a:p>
      </dgm:t>
    </dgm:pt>
    <dgm:pt modelId="{8CC2880D-F5C6-48CC-88EA-9BE35EE62EF5}" type="sibTrans" cxnId="{8EFD84AF-20BE-4346-8B59-47A7061D60C1}">
      <dgm:prSet/>
      <dgm:spPr/>
      <dgm:t>
        <a:bodyPr/>
        <a:lstStyle/>
        <a:p>
          <a:endParaRPr lang="en-US"/>
        </a:p>
      </dgm:t>
    </dgm:pt>
    <dgm:pt modelId="{FB6EA478-B20E-4BA4-B152-12587B9F0E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Decision Tree</a:t>
          </a:r>
          <a:endParaRPr lang="en-US"/>
        </a:p>
      </dgm:t>
    </dgm:pt>
    <dgm:pt modelId="{86945597-6580-4B56-85D6-57E7B110CD19}" type="parTrans" cxnId="{30764B52-8E89-4F8E-B486-6506F4745F6D}">
      <dgm:prSet/>
      <dgm:spPr/>
      <dgm:t>
        <a:bodyPr/>
        <a:lstStyle/>
        <a:p>
          <a:endParaRPr lang="en-US"/>
        </a:p>
      </dgm:t>
    </dgm:pt>
    <dgm:pt modelId="{3DB98C27-47C8-47DB-BCB7-2A5DC59EEFFD}" type="sibTrans" cxnId="{30764B52-8E89-4F8E-B486-6506F4745F6D}">
      <dgm:prSet/>
      <dgm:spPr/>
      <dgm:t>
        <a:bodyPr/>
        <a:lstStyle/>
        <a:p>
          <a:endParaRPr lang="en-US"/>
        </a:p>
      </dgm:t>
    </dgm:pt>
    <dgm:pt modelId="{0FFC31E5-56AA-443A-8718-71335D36FD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Nonlinear, interpretable</a:t>
          </a:r>
        </a:p>
      </dgm:t>
    </dgm:pt>
    <dgm:pt modelId="{20A0F162-7B36-4DF7-9A67-B1E78C54946B}" type="parTrans" cxnId="{152FD880-FDEE-47B3-8258-BEDF0C53ECA3}">
      <dgm:prSet/>
      <dgm:spPr/>
      <dgm:t>
        <a:bodyPr/>
        <a:lstStyle/>
        <a:p>
          <a:endParaRPr lang="en-US"/>
        </a:p>
      </dgm:t>
    </dgm:pt>
    <dgm:pt modelId="{A4B91F9D-64EF-4D55-8CC5-433471877134}" type="sibTrans" cxnId="{152FD880-FDEE-47B3-8258-BEDF0C53ECA3}">
      <dgm:prSet/>
      <dgm:spPr/>
      <dgm:t>
        <a:bodyPr/>
        <a:lstStyle/>
        <a:p>
          <a:endParaRPr lang="en-US"/>
        </a:p>
      </dgm:t>
    </dgm:pt>
    <dgm:pt modelId="{1F3D96C3-385E-41DA-9124-B5DC240848ED}">
      <dgm:prSet/>
      <dgm:spPr/>
      <dgm:t>
        <a:bodyPr/>
        <a:lstStyle/>
        <a:p>
          <a:r>
            <a:rPr lang="en-US"/>
            <a:t>Prone to overfitting</a:t>
          </a:r>
        </a:p>
      </dgm:t>
    </dgm:pt>
    <dgm:pt modelId="{3CFE0A68-64BC-4787-BEBE-14A0DCCAE54A}" type="parTrans" cxnId="{A6BF54FA-3BE9-4FA9-840C-1305C493F30D}">
      <dgm:prSet/>
      <dgm:spPr/>
      <dgm:t>
        <a:bodyPr/>
        <a:lstStyle/>
        <a:p>
          <a:endParaRPr lang="en-US"/>
        </a:p>
      </dgm:t>
    </dgm:pt>
    <dgm:pt modelId="{59363769-094B-497E-8B8F-2CF1C0579DD0}" type="sibTrans" cxnId="{A6BF54FA-3BE9-4FA9-840C-1305C493F30D}">
      <dgm:prSet/>
      <dgm:spPr/>
      <dgm:t>
        <a:bodyPr/>
        <a:lstStyle/>
        <a:p>
          <a:endParaRPr lang="en-US"/>
        </a:p>
      </dgm:t>
    </dgm:pt>
    <dgm:pt modelId="{3BB2C4F9-B6C2-411B-8122-E594F07499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Random Forest</a:t>
          </a:r>
          <a:endParaRPr lang="en-US"/>
        </a:p>
      </dgm:t>
    </dgm:pt>
    <dgm:pt modelId="{5280E288-F510-41AF-8B98-78F84890AB9C}" type="parTrans" cxnId="{AFC80835-F936-4ED1-8C08-2683EA357830}">
      <dgm:prSet/>
      <dgm:spPr/>
      <dgm:t>
        <a:bodyPr/>
        <a:lstStyle/>
        <a:p>
          <a:endParaRPr lang="en-US"/>
        </a:p>
      </dgm:t>
    </dgm:pt>
    <dgm:pt modelId="{C74C8937-625D-41B1-B39D-EBEBB120173A}" type="sibTrans" cxnId="{AFC80835-F936-4ED1-8C08-2683EA357830}">
      <dgm:prSet/>
      <dgm:spPr/>
      <dgm:t>
        <a:bodyPr/>
        <a:lstStyle/>
        <a:p>
          <a:endParaRPr lang="en-US"/>
        </a:p>
      </dgm:t>
    </dgm:pt>
    <dgm:pt modelId="{9B9AC2DE-2BEC-4522-B407-DC254374B1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Ensemble of trees</a:t>
          </a:r>
        </a:p>
      </dgm:t>
    </dgm:pt>
    <dgm:pt modelId="{E76939AF-FA31-4631-AF33-31493D05B43B}" type="parTrans" cxnId="{F60B4068-C1C6-4B2A-B016-3CDFD0D2BF6D}">
      <dgm:prSet/>
      <dgm:spPr/>
      <dgm:t>
        <a:bodyPr/>
        <a:lstStyle/>
        <a:p>
          <a:endParaRPr lang="en-US"/>
        </a:p>
      </dgm:t>
    </dgm:pt>
    <dgm:pt modelId="{A20435F2-C8CF-47B1-80C5-F52C4A111008}" type="sibTrans" cxnId="{F60B4068-C1C6-4B2A-B016-3CDFD0D2BF6D}">
      <dgm:prSet/>
      <dgm:spPr/>
      <dgm:t>
        <a:bodyPr/>
        <a:lstStyle/>
        <a:p>
          <a:endParaRPr lang="en-US"/>
        </a:p>
      </dgm:t>
    </dgm:pt>
    <dgm:pt modelId="{4BEE0B59-1B33-40B2-9BF9-E0CB2F74CFEA}">
      <dgm:prSet/>
      <dgm:spPr/>
      <dgm:t>
        <a:bodyPr/>
        <a:lstStyle/>
        <a:p>
          <a:r>
            <a:rPr lang="en-US"/>
            <a:t>Best ROC-AUC</a:t>
          </a:r>
        </a:p>
      </dgm:t>
    </dgm:pt>
    <dgm:pt modelId="{191E93AB-FEC6-4D4D-B93F-2CC2B95C8CCC}" type="parTrans" cxnId="{B51762EA-57A2-4B88-BFF8-821D74769E07}">
      <dgm:prSet/>
      <dgm:spPr/>
      <dgm:t>
        <a:bodyPr/>
        <a:lstStyle/>
        <a:p>
          <a:endParaRPr lang="en-US"/>
        </a:p>
      </dgm:t>
    </dgm:pt>
    <dgm:pt modelId="{711DEC25-24A9-4930-9EE6-C57C4077ED13}" type="sibTrans" cxnId="{B51762EA-57A2-4B88-BFF8-821D74769E07}">
      <dgm:prSet/>
      <dgm:spPr/>
      <dgm:t>
        <a:bodyPr/>
        <a:lstStyle/>
        <a:p>
          <a:endParaRPr lang="en-US"/>
        </a:p>
      </dgm:t>
    </dgm:pt>
    <dgm:pt modelId="{F3CF28C6-A741-4148-823A-9947A0FE97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XGBoost</a:t>
          </a:r>
          <a:endParaRPr lang="en-US"/>
        </a:p>
      </dgm:t>
    </dgm:pt>
    <dgm:pt modelId="{1EF60B9B-B62D-4172-82C0-AB64136A3C30}" type="parTrans" cxnId="{08BAE1C3-C89D-4676-A06D-43D1992DCE9D}">
      <dgm:prSet/>
      <dgm:spPr/>
      <dgm:t>
        <a:bodyPr/>
        <a:lstStyle/>
        <a:p>
          <a:endParaRPr lang="en-US"/>
        </a:p>
      </dgm:t>
    </dgm:pt>
    <dgm:pt modelId="{E89960D5-8953-48E9-977B-5464BDFD9E8E}" type="sibTrans" cxnId="{08BAE1C3-C89D-4676-A06D-43D1992DCE9D}">
      <dgm:prSet/>
      <dgm:spPr/>
      <dgm:t>
        <a:bodyPr/>
        <a:lstStyle/>
        <a:p>
          <a:endParaRPr lang="en-US"/>
        </a:p>
      </dgm:t>
    </dgm:pt>
    <dgm:pt modelId="{59C4F0C8-D4F6-4605-935C-0E28B3C65A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Gradient boosting</a:t>
          </a:r>
        </a:p>
      </dgm:t>
    </dgm:pt>
    <dgm:pt modelId="{52DF234F-22CC-450E-8210-39B43764AB47}" type="parTrans" cxnId="{776E9FA7-D4C4-4DF7-A05F-6543229CA6F8}">
      <dgm:prSet/>
      <dgm:spPr/>
      <dgm:t>
        <a:bodyPr/>
        <a:lstStyle/>
        <a:p>
          <a:endParaRPr lang="en-US"/>
        </a:p>
      </dgm:t>
    </dgm:pt>
    <dgm:pt modelId="{2BB6E10A-1EA3-4419-9F95-FD52B5AB611D}" type="sibTrans" cxnId="{776E9FA7-D4C4-4DF7-A05F-6543229CA6F8}">
      <dgm:prSet/>
      <dgm:spPr/>
      <dgm:t>
        <a:bodyPr/>
        <a:lstStyle/>
        <a:p>
          <a:endParaRPr lang="en-US"/>
        </a:p>
      </dgm:t>
    </dgm:pt>
    <dgm:pt modelId="{DB2EF279-7B63-4051-A743-C024E6E2DCA5}">
      <dgm:prSet/>
      <dgm:spPr/>
      <dgm:t>
        <a:bodyPr/>
        <a:lstStyle/>
        <a:p>
          <a:r>
            <a:rPr lang="en-US"/>
            <a:t>Best accuracy &amp; precision</a:t>
          </a:r>
        </a:p>
      </dgm:t>
    </dgm:pt>
    <dgm:pt modelId="{7731145F-EB8E-44DF-BE54-7376D1151293}" type="parTrans" cxnId="{066D4AB8-1B9C-4EEA-B703-301CADE7A68C}">
      <dgm:prSet/>
      <dgm:spPr/>
      <dgm:t>
        <a:bodyPr/>
        <a:lstStyle/>
        <a:p>
          <a:endParaRPr lang="en-US"/>
        </a:p>
      </dgm:t>
    </dgm:pt>
    <dgm:pt modelId="{5A4B1798-9433-4ABC-ACCB-296C752B1709}" type="sibTrans" cxnId="{066D4AB8-1B9C-4EEA-B703-301CADE7A68C}">
      <dgm:prSet/>
      <dgm:spPr/>
      <dgm:t>
        <a:bodyPr/>
        <a:lstStyle/>
        <a:p>
          <a:endParaRPr lang="en-US"/>
        </a:p>
      </dgm:t>
    </dgm:pt>
    <dgm:pt modelId="{69FF0570-C17E-45C4-B12A-6AEF45EB04C3}" type="pres">
      <dgm:prSet presAssocID="{FABE6280-AB86-4F7D-B908-0D49FFFC1A7C}" presName="root" presStyleCnt="0">
        <dgm:presLayoutVars>
          <dgm:dir/>
          <dgm:resizeHandles val="exact"/>
        </dgm:presLayoutVars>
      </dgm:prSet>
      <dgm:spPr/>
    </dgm:pt>
    <dgm:pt modelId="{A45FB2DE-60E8-4DF7-A3EA-CC97778795B5}" type="pres">
      <dgm:prSet presAssocID="{EBF01818-23DB-48F8-9F5D-D4BAE5CCC78B}" presName="compNode" presStyleCnt="0"/>
      <dgm:spPr/>
    </dgm:pt>
    <dgm:pt modelId="{F3DA4366-1E08-487D-8096-FA79948D46F8}" type="pres">
      <dgm:prSet presAssocID="{EBF01818-23DB-48F8-9F5D-D4BAE5CCC78B}" presName="bgRect" presStyleLbl="bgShp" presStyleIdx="0" presStyleCnt="4"/>
      <dgm:spPr/>
    </dgm:pt>
    <dgm:pt modelId="{3D77AE06-B916-4843-8146-701300E25EB8}" type="pres">
      <dgm:prSet presAssocID="{EBF01818-23DB-48F8-9F5D-D4BAE5CCC7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9A542BD-8BCA-4A4E-A38F-4258FA6FD4B8}" type="pres">
      <dgm:prSet presAssocID="{EBF01818-23DB-48F8-9F5D-D4BAE5CCC78B}" presName="spaceRect" presStyleCnt="0"/>
      <dgm:spPr/>
    </dgm:pt>
    <dgm:pt modelId="{0DF503C0-D6B0-4DF9-AC8F-408D81A95AB8}" type="pres">
      <dgm:prSet presAssocID="{EBF01818-23DB-48F8-9F5D-D4BAE5CCC78B}" presName="parTx" presStyleLbl="revTx" presStyleIdx="0" presStyleCnt="8">
        <dgm:presLayoutVars>
          <dgm:chMax val="0"/>
          <dgm:chPref val="0"/>
        </dgm:presLayoutVars>
      </dgm:prSet>
      <dgm:spPr/>
    </dgm:pt>
    <dgm:pt modelId="{E4DA6808-586E-41AA-A7B0-8D6875EC2534}" type="pres">
      <dgm:prSet presAssocID="{EBF01818-23DB-48F8-9F5D-D4BAE5CCC78B}" presName="desTx" presStyleLbl="revTx" presStyleIdx="1" presStyleCnt="8">
        <dgm:presLayoutVars/>
      </dgm:prSet>
      <dgm:spPr/>
    </dgm:pt>
    <dgm:pt modelId="{E0B6E636-D0DA-4C21-AB4F-D4471A8C910D}" type="pres">
      <dgm:prSet presAssocID="{B312EC3A-BAA0-43BE-A3B0-1E8DEABC4119}" presName="sibTrans" presStyleCnt="0"/>
      <dgm:spPr/>
    </dgm:pt>
    <dgm:pt modelId="{F59F7ED6-55A9-4C01-BD9C-925DC9BDA1F5}" type="pres">
      <dgm:prSet presAssocID="{FB6EA478-B20E-4BA4-B152-12587B9F0E5B}" presName="compNode" presStyleCnt="0"/>
      <dgm:spPr/>
    </dgm:pt>
    <dgm:pt modelId="{C841F656-EF35-42B7-991F-12E21A7B8703}" type="pres">
      <dgm:prSet presAssocID="{FB6EA478-B20E-4BA4-B152-12587B9F0E5B}" presName="bgRect" presStyleLbl="bgShp" presStyleIdx="1" presStyleCnt="4"/>
      <dgm:spPr/>
    </dgm:pt>
    <dgm:pt modelId="{F4434BFA-1D23-4C96-B540-B25FCFA5CD46}" type="pres">
      <dgm:prSet presAssocID="{FB6EA478-B20E-4BA4-B152-12587B9F0E5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E9D2606A-0F0E-42DB-BAB9-2D952D8AF35A}" type="pres">
      <dgm:prSet presAssocID="{FB6EA478-B20E-4BA4-B152-12587B9F0E5B}" presName="spaceRect" presStyleCnt="0"/>
      <dgm:spPr/>
    </dgm:pt>
    <dgm:pt modelId="{B66623A0-8049-4803-AAB1-440A4626F42B}" type="pres">
      <dgm:prSet presAssocID="{FB6EA478-B20E-4BA4-B152-12587B9F0E5B}" presName="parTx" presStyleLbl="revTx" presStyleIdx="2" presStyleCnt="8">
        <dgm:presLayoutVars>
          <dgm:chMax val="0"/>
          <dgm:chPref val="0"/>
        </dgm:presLayoutVars>
      </dgm:prSet>
      <dgm:spPr/>
    </dgm:pt>
    <dgm:pt modelId="{2C7981F6-8623-4D09-B2C7-7C72D1C33FD3}" type="pres">
      <dgm:prSet presAssocID="{FB6EA478-B20E-4BA4-B152-12587B9F0E5B}" presName="desTx" presStyleLbl="revTx" presStyleIdx="3" presStyleCnt="8">
        <dgm:presLayoutVars/>
      </dgm:prSet>
      <dgm:spPr/>
    </dgm:pt>
    <dgm:pt modelId="{379CE491-01B0-494C-B8F8-767FF1CCACD3}" type="pres">
      <dgm:prSet presAssocID="{3DB98C27-47C8-47DB-BCB7-2A5DC59EEFFD}" presName="sibTrans" presStyleCnt="0"/>
      <dgm:spPr/>
    </dgm:pt>
    <dgm:pt modelId="{943E7394-B7A7-460E-BDDB-0B91027EDCBA}" type="pres">
      <dgm:prSet presAssocID="{3BB2C4F9-B6C2-411B-8122-E594F07499BE}" presName="compNode" presStyleCnt="0"/>
      <dgm:spPr/>
    </dgm:pt>
    <dgm:pt modelId="{469D6460-E45D-4932-98A2-FF5F49855760}" type="pres">
      <dgm:prSet presAssocID="{3BB2C4F9-B6C2-411B-8122-E594F07499BE}" presName="bgRect" presStyleLbl="bgShp" presStyleIdx="2" presStyleCnt="4"/>
      <dgm:spPr/>
    </dgm:pt>
    <dgm:pt modelId="{0D36ECB8-2DDA-451B-9D4E-CE14D3114705}" type="pres">
      <dgm:prSet presAssocID="{3BB2C4F9-B6C2-411B-8122-E594F07499B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FB435B3F-8A3D-48BB-9E2E-2A9D7289FBB6}" type="pres">
      <dgm:prSet presAssocID="{3BB2C4F9-B6C2-411B-8122-E594F07499BE}" presName="spaceRect" presStyleCnt="0"/>
      <dgm:spPr/>
    </dgm:pt>
    <dgm:pt modelId="{83E15B5C-C34A-465F-A92B-E4042E1EE753}" type="pres">
      <dgm:prSet presAssocID="{3BB2C4F9-B6C2-411B-8122-E594F07499BE}" presName="parTx" presStyleLbl="revTx" presStyleIdx="4" presStyleCnt="8">
        <dgm:presLayoutVars>
          <dgm:chMax val="0"/>
          <dgm:chPref val="0"/>
        </dgm:presLayoutVars>
      </dgm:prSet>
      <dgm:spPr/>
    </dgm:pt>
    <dgm:pt modelId="{75FC4B12-E12E-481C-98CF-BBF415DB264E}" type="pres">
      <dgm:prSet presAssocID="{3BB2C4F9-B6C2-411B-8122-E594F07499BE}" presName="desTx" presStyleLbl="revTx" presStyleIdx="5" presStyleCnt="8">
        <dgm:presLayoutVars/>
      </dgm:prSet>
      <dgm:spPr/>
    </dgm:pt>
    <dgm:pt modelId="{C392CD0B-4584-4962-8B89-6EAC880958CB}" type="pres">
      <dgm:prSet presAssocID="{C74C8937-625D-41B1-B39D-EBEBB120173A}" presName="sibTrans" presStyleCnt="0"/>
      <dgm:spPr/>
    </dgm:pt>
    <dgm:pt modelId="{76E99EA1-01F7-44D1-8958-0CCBBE9025A9}" type="pres">
      <dgm:prSet presAssocID="{F3CF28C6-A741-4148-823A-9947A0FE979F}" presName="compNode" presStyleCnt="0"/>
      <dgm:spPr/>
    </dgm:pt>
    <dgm:pt modelId="{95C3BDB7-4699-4CFF-9EFD-15CC31EEA309}" type="pres">
      <dgm:prSet presAssocID="{F3CF28C6-A741-4148-823A-9947A0FE979F}" presName="bgRect" presStyleLbl="bgShp" presStyleIdx="3" presStyleCnt="4"/>
      <dgm:spPr/>
    </dgm:pt>
    <dgm:pt modelId="{9CD21CD9-F4FA-4F5D-8224-9E8088848E4C}" type="pres">
      <dgm:prSet presAssocID="{F3CF28C6-A741-4148-823A-9947A0FE979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55E52C0-C0C8-4269-9F06-3951FF6F6075}" type="pres">
      <dgm:prSet presAssocID="{F3CF28C6-A741-4148-823A-9947A0FE979F}" presName="spaceRect" presStyleCnt="0"/>
      <dgm:spPr/>
    </dgm:pt>
    <dgm:pt modelId="{8CC1701E-D0D7-4309-B6DA-74BF5A6CFABD}" type="pres">
      <dgm:prSet presAssocID="{F3CF28C6-A741-4148-823A-9947A0FE979F}" presName="parTx" presStyleLbl="revTx" presStyleIdx="6" presStyleCnt="8">
        <dgm:presLayoutVars>
          <dgm:chMax val="0"/>
          <dgm:chPref val="0"/>
        </dgm:presLayoutVars>
      </dgm:prSet>
      <dgm:spPr/>
    </dgm:pt>
    <dgm:pt modelId="{5D55C1E4-B314-49E4-86E7-0EB500FADB95}" type="pres">
      <dgm:prSet presAssocID="{F3CF28C6-A741-4148-823A-9947A0FE979F}" presName="desTx" presStyleLbl="revTx" presStyleIdx="7" presStyleCnt="8">
        <dgm:presLayoutVars/>
      </dgm:prSet>
      <dgm:spPr/>
    </dgm:pt>
  </dgm:ptLst>
  <dgm:cxnLst>
    <dgm:cxn modelId="{4E11A00C-FBFE-48AD-8FE2-1CE1189F6AF9}" type="presOf" srcId="{59C4F0C8-D4F6-4605-935C-0E28B3C65A14}" destId="{5D55C1E4-B314-49E4-86E7-0EB500FADB95}" srcOrd="0" destOrd="0" presId="urn:microsoft.com/office/officeart/2018/2/layout/IconVerticalSolidList"/>
    <dgm:cxn modelId="{12400413-A61A-4FDF-88BB-0DFC66F7284E}" type="presOf" srcId="{1F3D96C3-385E-41DA-9124-B5DC240848ED}" destId="{2C7981F6-8623-4D09-B2C7-7C72D1C33FD3}" srcOrd="0" destOrd="1" presId="urn:microsoft.com/office/officeart/2018/2/layout/IconVerticalSolidList"/>
    <dgm:cxn modelId="{6F1DAD1B-1A4C-4227-B1FC-F17516B5D288}" type="presOf" srcId="{4BEE0B59-1B33-40B2-9BF9-E0CB2F74CFEA}" destId="{75FC4B12-E12E-481C-98CF-BBF415DB264E}" srcOrd="0" destOrd="1" presId="urn:microsoft.com/office/officeart/2018/2/layout/IconVerticalSolidList"/>
    <dgm:cxn modelId="{AFC80835-F936-4ED1-8C08-2683EA357830}" srcId="{FABE6280-AB86-4F7D-B908-0D49FFFC1A7C}" destId="{3BB2C4F9-B6C2-411B-8122-E594F07499BE}" srcOrd="2" destOrd="0" parTransId="{5280E288-F510-41AF-8B98-78F84890AB9C}" sibTransId="{C74C8937-625D-41B1-B39D-EBEBB120173A}"/>
    <dgm:cxn modelId="{66B4EC36-3075-45D1-A313-F94FCB87E01F}" type="presOf" srcId="{9B9AC2DE-2BEC-4522-B407-DC254374B185}" destId="{75FC4B12-E12E-481C-98CF-BBF415DB264E}" srcOrd="0" destOrd="0" presId="urn:microsoft.com/office/officeart/2018/2/layout/IconVerticalSolidList"/>
    <dgm:cxn modelId="{30764B52-8E89-4F8E-B486-6506F4745F6D}" srcId="{FABE6280-AB86-4F7D-B908-0D49FFFC1A7C}" destId="{FB6EA478-B20E-4BA4-B152-12587B9F0E5B}" srcOrd="1" destOrd="0" parTransId="{86945597-6580-4B56-85D6-57E7B110CD19}" sibTransId="{3DB98C27-47C8-47DB-BCB7-2A5DC59EEFFD}"/>
    <dgm:cxn modelId="{65E45759-7A05-402B-B2E0-0AFB5B1FFBD4}" type="presOf" srcId="{0FFC31E5-56AA-443A-8718-71335D36FDC9}" destId="{2C7981F6-8623-4D09-B2C7-7C72D1C33FD3}" srcOrd="0" destOrd="0" presId="urn:microsoft.com/office/officeart/2018/2/layout/IconVerticalSolidList"/>
    <dgm:cxn modelId="{FD68D05B-1B5C-4103-B9A9-696AA256F7CC}" type="presOf" srcId="{FABE6280-AB86-4F7D-B908-0D49FFFC1A7C}" destId="{69FF0570-C17E-45C4-B12A-6AEF45EB04C3}" srcOrd="0" destOrd="0" presId="urn:microsoft.com/office/officeart/2018/2/layout/IconVerticalSolidList"/>
    <dgm:cxn modelId="{F60B4068-C1C6-4B2A-B016-3CDFD0D2BF6D}" srcId="{3BB2C4F9-B6C2-411B-8122-E594F07499BE}" destId="{9B9AC2DE-2BEC-4522-B407-DC254374B185}" srcOrd="0" destOrd="0" parTransId="{E76939AF-FA31-4631-AF33-31493D05B43B}" sibTransId="{A20435F2-C8CF-47B1-80C5-F52C4A111008}"/>
    <dgm:cxn modelId="{593AB869-B199-44EC-8E7F-00C967E8A083}" type="presOf" srcId="{DEBE4863-9FA5-47BB-902F-008CC02C6BD7}" destId="{E4DA6808-586E-41AA-A7B0-8D6875EC2534}" srcOrd="0" destOrd="1" presId="urn:microsoft.com/office/officeart/2018/2/layout/IconVerticalSolidList"/>
    <dgm:cxn modelId="{EFAD036F-0357-4344-A06B-864F6E55B8CA}" type="presOf" srcId="{3BB2C4F9-B6C2-411B-8122-E594F07499BE}" destId="{83E15B5C-C34A-465F-A92B-E4042E1EE753}" srcOrd="0" destOrd="0" presId="urn:microsoft.com/office/officeart/2018/2/layout/IconVerticalSolidList"/>
    <dgm:cxn modelId="{0875A86F-46DD-4343-BBBB-D9840B1BFF71}" type="presOf" srcId="{EBF01818-23DB-48F8-9F5D-D4BAE5CCC78B}" destId="{0DF503C0-D6B0-4DF9-AC8F-408D81A95AB8}" srcOrd="0" destOrd="0" presId="urn:microsoft.com/office/officeart/2018/2/layout/IconVerticalSolidList"/>
    <dgm:cxn modelId="{152FD880-FDEE-47B3-8258-BEDF0C53ECA3}" srcId="{FB6EA478-B20E-4BA4-B152-12587B9F0E5B}" destId="{0FFC31E5-56AA-443A-8718-71335D36FDC9}" srcOrd="0" destOrd="0" parTransId="{20A0F162-7B36-4DF7-9A67-B1E78C54946B}" sibTransId="{A4B91F9D-64EF-4D55-8CC5-433471877134}"/>
    <dgm:cxn modelId="{3FBB7C8F-9050-4D4E-9595-71C1553A02D8}" srcId="{EBF01818-23DB-48F8-9F5D-D4BAE5CCC78B}" destId="{BB99C82A-F79C-4F7E-988E-E20C63A6E1FE}" srcOrd="0" destOrd="0" parTransId="{6AF157C1-3FC1-448D-A952-C57A01818DD0}" sibTransId="{6CBAB5AD-8EE4-4DB9-9425-A762C5703EC1}"/>
    <dgm:cxn modelId="{776E9FA7-D4C4-4DF7-A05F-6543229CA6F8}" srcId="{F3CF28C6-A741-4148-823A-9947A0FE979F}" destId="{59C4F0C8-D4F6-4605-935C-0E28B3C65A14}" srcOrd="0" destOrd="0" parTransId="{52DF234F-22CC-450E-8210-39B43764AB47}" sibTransId="{2BB6E10A-1EA3-4419-9F95-FD52B5AB611D}"/>
    <dgm:cxn modelId="{A4F1FDAB-9D63-44D2-999C-FFC22ABDDB25}" srcId="{FABE6280-AB86-4F7D-B908-0D49FFFC1A7C}" destId="{EBF01818-23DB-48F8-9F5D-D4BAE5CCC78B}" srcOrd="0" destOrd="0" parTransId="{DE0E7225-BC8C-4985-B51C-08163D807933}" sibTransId="{B312EC3A-BAA0-43BE-A3B0-1E8DEABC4119}"/>
    <dgm:cxn modelId="{8EFD84AF-20BE-4346-8B59-47A7061D60C1}" srcId="{BB99C82A-F79C-4F7E-988E-E20C63A6E1FE}" destId="{DEBE4863-9FA5-47BB-902F-008CC02C6BD7}" srcOrd="0" destOrd="0" parTransId="{2C06ED31-44F4-4E91-BA94-CE81920FF66B}" sibTransId="{8CC2880D-F5C6-48CC-88EA-9BE35EE62EF5}"/>
    <dgm:cxn modelId="{50DBEFAF-4CC0-40A5-85F3-5D2CD18E9ABC}" type="presOf" srcId="{F3CF28C6-A741-4148-823A-9947A0FE979F}" destId="{8CC1701E-D0D7-4309-B6DA-74BF5A6CFABD}" srcOrd="0" destOrd="0" presId="urn:microsoft.com/office/officeart/2018/2/layout/IconVerticalSolidList"/>
    <dgm:cxn modelId="{066D4AB8-1B9C-4EEA-B703-301CADE7A68C}" srcId="{59C4F0C8-D4F6-4605-935C-0E28B3C65A14}" destId="{DB2EF279-7B63-4051-A743-C024E6E2DCA5}" srcOrd="0" destOrd="0" parTransId="{7731145F-EB8E-44DF-BE54-7376D1151293}" sibTransId="{5A4B1798-9433-4ABC-ACCB-296C752B1709}"/>
    <dgm:cxn modelId="{08BAE1C3-C89D-4676-A06D-43D1992DCE9D}" srcId="{FABE6280-AB86-4F7D-B908-0D49FFFC1A7C}" destId="{F3CF28C6-A741-4148-823A-9947A0FE979F}" srcOrd="3" destOrd="0" parTransId="{1EF60B9B-B62D-4172-82C0-AB64136A3C30}" sibTransId="{E89960D5-8953-48E9-977B-5464BDFD9E8E}"/>
    <dgm:cxn modelId="{F80337DF-9281-4E6D-864A-EBE27A8DB44C}" type="presOf" srcId="{DB2EF279-7B63-4051-A743-C024E6E2DCA5}" destId="{5D55C1E4-B314-49E4-86E7-0EB500FADB95}" srcOrd="0" destOrd="1" presId="urn:microsoft.com/office/officeart/2018/2/layout/IconVerticalSolidList"/>
    <dgm:cxn modelId="{37B54BE4-BC04-453E-97B6-77B31931061C}" type="presOf" srcId="{BB99C82A-F79C-4F7E-988E-E20C63A6E1FE}" destId="{E4DA6808-586E-41AA-A7B0-8D6875EC2534}" srcOrd="0" destOrd="0" presId="urn:microsoft.com/office/officeart/2018/2/layout/IconVerticalSolidList"/>
    <dgm:cxn modelId="{B51762EA-57A2-4B88-BFF8-821D74769E07}" srcId="{9B9AC2DE-2BEC-4522-B407-DC254374B185}" destId="{4BEE0B59-1B33-40B2-9BF9-E0CB2F74CFEA}" srcOrd="0" destOrd="0" parTransId="{191E93AB-FEC6-4D4D-B93F-2CC2B95C8CCC}" sibTransId="{711DEC25-24A9-4930-9EE6-C57C4077ED13}"/>
    <dgm:cxn modelId="{23B87AF5-F32D-4704-8616-3E1D8A645E5E}" type="presOf" srcId="{FB6EA478-B20E-4BA4-B152-12587B9F0E5B}" destId="{B66623A0-8049-4803-AAB1-440A4626F42B}" srcOrd="0" destOrd="0" presId="urn:microsoft.com/office/officeart/2018/2/layout/IconVerticalSolidList"/>
    <dgm:cxn modelId="{A6BF54FA-3BE9-4FA9-840C-1305C493F30D}" srcId="{0FFC31E5-56AA-443A-8718-71335D36FDC9}" destId="{1F3D96C3-385E-41DA-9124-B5DC240848ED}" srcOrd="0" destOrd="0" parTransId="{3CFE0A68-64BC-4787-BEBE-14A0DCCAE54A}" sibTransId="{59363769-094B-497E-8B8F-2CF1C0579DD0}"/>
    <dgm:cxn modelId="{A9843BFE-38D4-4271-B29D-6C0D2FB22A78}" type="presParOf" srcId="{69FF0570-C17E-45C4-B12A-6AEF45EB04C3}" destId="{A45FB2DE-60E8-4DF7-A3EA-CC97778795B5}" srcOrd="0" destOrd="0" presId="urn:microsoft.com/office/officeart/2018/2/layout/IconVerticalSolidList"/>
    <dgm:cxn modelId="{BD91243F-ECC1-4332-97B3-3F8BFF8E47E7}" type="presParOf" srcId="{A45FB2DE-60E8-4DF7-A3EA-CC97778795B5}" destId="{F3DA4366-1E08-487D-8096-FA79948D46F8}" srcOrd="0" destOrd="0" presId="urn:microsoft.com/office/officeart/2018/2/layout/IconVerticalSolidList"/>
    <dgm:cxn modelId="{21C9365C-4FCC-4F57-A0C1-D1AA668A6F2E}" type="presParOf" srcId="{A45FB2DE-60E8-4DF7-A3EA-CC97778795B5}" destId="{3D77AE06-B916-4843-8146-701300E25EB8}" srcOrd="1" destOrd="0" presId="urn:microsoft.com/office/officeart/2018/2/layout/IconVerticalSolidList"/>
    <dgm:cxn modelId="{7964E3AC-6BDB-49F5-8552-DE42363DE1BD}" type="presParOf" srcId="{A45FB2DE-60E8-4DF7-A3EA-CC97778795B5}" destId="{59A542BD-8BCA-4A4E-A38F-4258FA6FD4B8}" srcOrd="2" destOrd="0" presId="urn:microsoft.com/office/officeart/2018/2/layout/IconVerticalSolidList"/>
    <dgm:cxn modelId="{9AE0EB07-1B08-4CA8-8802-16C197CA7B30}" type="presParOf" srcId="{A45FB2DE-60E8-4DF7-A3EA-CC97778795B5}" destId="{0DF503C0-D6B0-4DF9-AC8F-408D81A95AB8}" srcOrd="3" destOrd="0" presId="urn:microsoft.com/office/officeart/2018/2/layout/IconVerticalSolidList"/>
    <dgm:cxn modelId="{AF84F5AD-6AC4-4506-9137-7EB34D0C0EFA}" type="presParOf" srcId="{A45FB2DE-60E8-4DF7-A3EA-CC97778795B5}" destId="{E4DA6808-586E-41AA-A7B0-8D6875EC2534}" srcOrd="4" destOrd="0" presId="urn:microsoft.com/office/officeart/2018/2/layout/IconVerticalSolidList"/>
    <dgm:cxn modelId="{E7087221-D1F2-46C0-8C15-66B267A677EB}" type="presParOf" srcId="{69FF0570-C17E-45C4-B12A-6AEF45EB04C3}" destId="{E0B6E636-D0DA-4C21-AB4F-D4471A8C910D}" srcOrd="1" destOrd="0" presId="urn:microsoft.com/office/officeart/2018/2/layout/IconVerticalSolidList"/>
    <dgm:cxn modelId="{7AEB298F-85C5-40AA-A4CC-E81DDE1EE8AF}" type="presParOf" srcId="{69FF0570-C17E-45C4-B12A-6AEF45EB04C3}" destId="{F59F7ED6-55A9-4C01-BD9C-925DC9BDA1F5}" srcOrd="2" destOrd="0" presId="urn:microsoft.com/office/officeart/2018/2/layout/IconVerticalSolidList"/>
    <dgm:cxn modelId="{F6DF14AC-9126-4B0C-B104-1BAC5802F18A}" type="presParOf" srcId="{F59F7ED6-55A9-4C01-BD9C-925DC9BDA1F5}" destId="{C841F656-EF35-42B7-991F-12E21A7B8703}" srcOrd="0" destOrd="0" presId="urn:microsoft.com/office/officeart/2018/2/layout/IconVerticalSolidList"/>
    <dgm:cxn modelId="{36B8B006-4B12-4839-914A-9EC588FACD72}" type="presParOf" srcId="{F59F7ED6-55A9-4C01-BD9C-925DC9BDA1F5}" destId="{F4434BFA-1D23-4C96-B540-B25FCFA5CD46}" srcOrd="1" destOrd="0" presId="urn:microsoft.com/office/officeart/2018/2/layout/IconVerticalSolidList"/>
    <dgm:cxn modelId="{27A4BFC8-14DD-46BE-9D6E-0C1404BCE2B8}" type="presParOf" srcId="{F59F7ED6-55A9-4C01-BD9C-925DC9BDA1F5}" destId="{E9D2606A-0F0E-42DB-BAB9-2D952D8AF35A}" srcOrd="2" destOrd="0" presId="urn:microsoft.com/office/officeart/2018/2/layout/IconVerticalSolidList"/>
    <dgm:cxn modelId="{E06165C0-30CB-4CE4-ADF7-E1D921CC2926}" type="presParOf" srcId="{F59F7ED6-55A9-4C01-BD9C-925DC9BDA1F5}" destId="{B66623A0-8049-4803-AAB1-440A4626F42B}" srcOrd="3" destOrd="0" presId="urn:microsoft.com/office/officeart/2018/2/layout/IconVerticalSolidList"/>
    <dgm:cxn modelId="{F4CE208D-5562-4EB6-B059-95CBB557E385}" type="presParOf" srcId="{F59F7ED6-55A9-4C01-BD9C-925DC9BDA1F5}" destId="{2C7981F6-8623-4D09-B2C7-7C72D1C33FD3}" srcOrd="4" destOrd="0" presId="urn:microsoft.com/office/officeart/2018/2/layout/IconVerticalSolidList"/>
    <dgm:cxn modelId="{46814989-1846-4B5D-A388-8C9A044A6F28}" type="presParOf" srcId="{69FF0570-C17E-45C4-B12A-6AEF45EB04C3}" destId="{379CE491-01B0-494C-B8F8-767FF1CCACD3}" srcOrd="3" destOrd="0" presId="urn:microsoft.com/office/officeart/2018/2/layout/IconVerticalSolidList"/>
    <dgm:cxn modelId="{37CE249E-8FFE-4145-8323-85F1BFFCB116}" type="presParOf" srcId="{69FF0570-C17E-45C4-B12A-6AEF45EB04C3}" destId="{943E7394-B7A7-460E-BDDB-0B91027EDCBA}" srcOrd="4" destOrd="0" presId="urn:microsoft.com/office/officeart/2018/2/layout/IconVerticalSolidList"/>
    <dgm:cxn modelId="{164DDB1C-F231-43CA-B259-C41E34296768}" type="presParOf" srcId="{943E7394-B7A7-460E-BDDB-0B91027EDCBA}" destId="{469D6460-E45D-4932-98A2-FF5F49855760}" srcOrd="0" destOrd="0" presId="urn:microsoft.com/office/officeart/2018/2/layout/IconVerticalSolidList"/>
    <dgm:cxn modelId="{A8F9CB5F-4A51-4715-B5FE-977224CDEF6A}" type="presParOf" srcId="{943E7394-B7A7-460E-BDDB-0B91027EDCBA}" destId="{0D36ECB8-2DDA-451B-9D4E-CE14D3114705}" srcOrd="1" destOrd="0" presId="urn:microsoft.com/office/officeart/2018/2/layout/IconVerticalSolidList"/>
    <dgm:cxn modelId="{CE251C70-A33B-426A-BA5D-89D3D018B63E}" type="presParOf" srcId="{943E7394-B7A7-460E-BDDB-0B91027EDCBA}" destId="{FB435B3F-8A3D-48BB-9E2E-2A9D7289FBB6}" srcOrd="2" destOrd="0" presId="urn:microsoft.com/office/officeart/2018/2/layout/IconVerticalSolidList"/>
    <dgm:cxn modelId="{4AA770E0-0CE6-4E5F-89E4-FE6958BE2453}" type="presParOf" srcId="{943E7394-B7A7-460E-BDDB-0B91027EDCBA}" destId="{83E15B5C-C34A-465F-A92B-E4042E1EE753}" srcOrd="3" destOrd="0" presId="urn:microsoft.com/office/officeart/2018/2/layout/IconVerticalSolidList"/>
    <dgm:cxn modelId="{52C50FA6-0DDD-4F84-82B2-9009F36DF151}" type="presParOf" srcId="{943E7394-B7A7-460E-BDDB-0B91027EDCBA}" destId="{75FC4B12-E12E-481C-98CF-BBF415DB264E}" srcOrd="4" destOrd="0" presId="urn:microsoft.com/office/officeart/2018/2/layout/IconVerticalSolidList"/>
    <dgm:cxn modelId="{06173F3B-DBB8-407C-BA09-B492AC264C20}" type="presParOf" srcId="{69FF0570-C17E-45C4-B12A-6AEF45EB04C3}" destId="{C392CD0B-4584-4962-8B89-6EAC880958CB}" srcOrd="5" destOrd="0" presId="urn:microsoft.com/office/officeart/2018/2/layout/IconVerticalSolidList"/>
    <dgm:cxn modelId="{6AAF8C30-2DB2-4C22-AE93-C087FEEC7B46}" type="presParOf" srcId="{69FF0570-C17E-45C4-B12A-6AEF45EB04C3}" destId="{76E99EA1-01F7-44D1-8958-0CCBBE9025A9}" srcOrd="6" destOrd="0" presId="urn:microsoft.com/office/officeart/2018/2/layout/IconVerticalSolidList"/>
    <dgm:cxn modelId="{2B5CB2B3-1BB0-4C85-A5D1-8208D86472C6}" type="presParOf" srcId="{76E99EA1-01F7-44D1-8958-0CCBBE9025A9}" destId="{95C3BDB7-4699-4CFF-9EFD-15CC31EEA309}" srcOrd="0" destOrd="0" presId="urn:microsoft.com/office/officeart/2018/2/layout/IconVerticalSolidList"/>
    <dgm:cxn modelId="{E4A42E1C-9791-42B1-AF04-F0281BF4BC07}" type="presParOf" srcId="{76E99EA1-01F7-44D1-8958-0CCBBE9025A9}" destId="{9CD21CD9-F4FA-4F5D-8224-9E8088848E4C}" srcOrd="1" destOrd="0" presId="urn:microsoft.com/office/officeart/2018/2/layout/IconVerticalSolidList"/>
    <dgm:cxn modelId="{02ECE2F7-BBA5-46C2-8D6C-212BECC80542}" type="presParOf" srcId="{76E99EA1-01F7-44D1-8958-0CCBBE9025A9}" destId="{655E52C0-C0C8-4269-9F06-3951FF6F6075}" srcOrd="2" destOrd="0" presId="urn:microsoft.com/office/officeart/2018/2/layout/IconVerticalSolidList"/>
    <dgm:cxn modelId="{903CDC22-DF7A-4345-8117-4157C024E163}" type="presParOf" srcId="{76E99EA1-01F7-44D1-8958-0CCBBE9025A9}" destId="{8CC1701E-D0D7-4309-B6DA-74BF5A6CFABD}" srcOrd="3" destOrd="0" presId="urn:microsoft.com/office/officeart/2018/2/layout/IconVerticalSolidList"/>
    <dgm:cxn modelId="{A6DEB8CF-440A-4C6B-8D50-634C21581264}" type="presParOf" srcId="{76E99EA1-01F7-44D1-8958-0CCBBE9025A9}" destId="{5D55C1E4-B314-49E4-86E7-0EB500FADB9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A4366-1E08-487D-8096-FA79948D46F8}">
      <dsp:nvSpPr>
        <dsp:cNvPr id="0" name=""/>
        <dsp:cNvSpPr/>
      </dsp:nvSpPr>
      <dsp:spPr>
        <a:xfrm>
          <a:off x="0" y="3928"/>
          <a:ext cx="3898900" cy="914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77AE06-B916-4843-8146-701300E25EB8}">
      <dsp:nvSpPr>
        <dsp:cNvPr id="0" name=""/>
        <dsp:cNvSpPr/>
      </dsp:nvSpPr>
      <dsp:spPr>
        <a:xfrm>
          <a:off x="276611" y="209672"/>
          <a:ext cx="502929" cy="50292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F503C0-D6B0-4DF9-AC8F-408D81A95AB8}">
      <dsp:nvSpPr>
        <dsp:cNvPr id="0" name=""/>
        <dsp:cNvSpPr/>
      </dsp:nvSpPr>
      <dsp:spPr>
        <a:xfrm>
          <a:off x="1056151" y="3928"/>
          <a:ext cx="1754505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Logistic Regression</a:t>
          </a:r>
          <a:endParaRPr lang="en-US" sz="2200" kern="1200"/>
        </a:p>
      </dsp:txBody>
      <dsp:txXfrm>
        <a:off x="1056151" y="3928"/>
        <a:ext cx="1754505" cy="914416"/>
      </dsp:txXfrm>
    </dsp:sp>
    <dsp:sp modelId="{E4DA6808-586E-41AA-A7B0-8D6875EC2534}">
      <dsp:nvSpPr>
        <dsp:cNvPr id="0" name=""/>
        <dsp:cNvSpPr/>
      </dsp:nvSpPr>
      <dsp:spPr>
        <a:xfrm>
          <a:off x="2810656" y="3928"/>
          <a:ext cx="1087211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Linear, interpretable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Best recall</a:t>
          </a:r>
        </a:p>
      </dsp:txBody>
      <dsp:txXfrm>
        <a:off x="2810656" y="3928"/>
        <a:ext cx="1087211" cy="914416"/>
      </dsp:txXfrm>
    </dsp:sp>
    <dsp:sp modelId="{C841F656-EF35-42B7-991F-12E21A7B8703}">
      <dsp:nvSpPr>
        <dsp:cNvPr id="0" name=""/>
        <dsp:cNvSpPr/>
      </dsp:nvSpPr>
      <dsp:spPr>
        <a:xfrm>
          <a:off x="0" y="1146949"/>
          <a:ext cx="3898900" cy="914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434BFA-1D23-4C96-B540-B25FCFA5CD46}">
      <dsp:nvSpPr>
        <dsp:cNvPr id="0" name=""/>
        <dsp:cNvSpPr/>
      </dsp:nvSpPr>
      <dsp:spPr>
        <a:xfrm>
          <a:off x="276611" y="1352693"/>
          <a:ext cx="502929" cy="50292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623A0-8049-4803-AAB1-440A4626F42B}">
      <dsp:nvSpPr>
        <dsp:cNvPr id="0" name=""/>
        <dsp:cNvSpPr/>
      </dsp:nvSpPr>
      <dsp:spPr>
        <a:xfrm>
          <a:off x="1056151" y="1146949"/>
          <a:ext cx="1754505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Decision Tree</a:t>
          </a:r>
          <a:endParaRPr lang="en-US" sz="2200" kern="1200"/>
        </a:p>
      </dsp:txBody>
      <dsp:txXfrm>
        <a:off x="1056151" y="1146949"/>
        <a:ext cx="1754505" cy="914416"/>
      </dsp:txXfrm>
    </dsp:sp>
    <dsp:sp modelId="{2C7981F6-8623-4D09-B2C7-7C72D1C33FD3}">
      <dsp:nvSpPr>
        <dsp:cNvPr id="0" name=""/>
        <dsp:cNvSpPr/>
      </dsp:nvSpPr>
      <dsp:spPr>
        <a:xfrm>
          <a:off x="2810656" y="1146949"/>
          <a:ext cx="1087211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Nonlinear, interpretable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Prone to overfitting</a:t>
          </a:r>
        </a:p>
      </dsp:txBody>
      <dsp:txXfrm>
        <a:off x="2810656" y="1146949"/>
        <a:ext cx="1087211" cy="914416"/>
      </dsp:txXfrm>
    </dsp:sp>
    <dsp:sp modelId="{469D6460-E45D-4932-98A2-FF5F49855760}">
      <dsp:nvSpPr>
        <dsp:cNvPr id="0" name=""/>
        <dsp:cNvSpPr/>
      </dsp:nvSpPr>
      <dsp:spPr>
        <a:xfrm>
          <a:off x="0" y="2289971"/>
          <a:ext cx="3898900" cy="914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6ECB8-2DDA-451B-9D4E-CE14D3114705}">
      <dsp:nvSpPr>
        <dsp:cNvPr id="0" name=""/>
        <dsp:cNvSpPr/>
      </dsp:nvSpPr>
      <dsp:spPr>
        <a:xfrm>
          <a:off x="276611" y="2495714"/>
          <a:ext cx="502929" cy="50292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E15B5C-C34A-465F-A92B-E4042E1EE753}">
      <dsp:nvSpPr>
        <dsp:cNvPr id="0" name=""/>
        <dsp:cNvSpPr/>
      </dsp:nvSpPr>
      <dsp:spPr>
        <a:xfrm>
          <a:off x="1056151" y="2289971"/>
          <a:ext cx="1754505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Random Forest</a:t>
          </a:r>
          <a:endParaRPr lang="en-US" sz="2200" kern="1200"/>
        </a:p>
      </dsp:txBody>
      <dsp:txXfrm>
        <a:off x="1056151" y="2289971"/>
        <a:ext cx="1754505" cy="914416"/>
      </dsp:txXfrm>
    </dsp:sp>
    <dsp:sp modelId="{75FC4B12-E12E-481C-98CF-BBF415DB264E}">
      <dsp:nvSpPr>
        <dsp:cNvPr id="0" name=""/>
        <dsp:cNvSpPr/>
      </dsp:nvSpPr>
      <dsp:spPr>
        <a:xfrm>
          <a:off x="2810656" y="2289971"/>
          <a:ext cx="1087211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Ensemble of trees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Best ROC-AUC</a:t>
          </a:r>
        </a:p>
      </dsp:txBody>
      <dsp:txXfrm>
        <a:off x="2810656" y="2289971"/>
        <a:ext cx="1087211" cy="914416"/>
      </dsp:txXfrm>
    </dsp:sp>
    <dsp:sp modelId="{95C3BDB7-4699-4CFF-9EFD-15CC31EEA309}">
      <dsp:nvSpPr>
        <dsp:cNvPr id="0" name=""/>
        <dsp:cNvSpPr/>
      </dsp:nvSpPr>
      <dsp:spPr>
        <a:xfrm>
          <a:off x="0" y="3432992"/>
          <a:ext cx="3898900" cy="9144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21CD9-F4FA-4F5D-8224-9E8088848E4C}">
      <dsp:nvSpPr>
        <dsp:cNvPr id="0" name=""/>
        <dsp:cNvSpPr/>
      </dsp:nvSpPr>
      <dsp:spPr>
        <a:xfrm>
          <a:off x="276611" y="3638736"/>
          <a:ext cx="502929" cy="50292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1701E-D0D7-4309-B6DA-74BF5A6CFABD}">
      <dsp:nvSpPr>
        <dsp:cNvPr id="0" name=""/>
        <dsp:cNvSpPr/>
      </dsp:nvSpPr>
      <dsp:spPr>
        <a:xfrm>
          <a:off x="1056151" y="3432992"/>
          <a:ext cx="1754505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XGBoost</a:t>
          </a:r>
          <a:endParaRPr lang="en-US" sz="2200" kern="1200"/>
        </a:p>
      </dsp:txBody>
      <dsp:txXfrm>
        <a:off x="1056151" y="3432992"/>
        <a:ext cx="1754505" cy="914416"/>
      </dsp:txXfrm>
    </dsp:sp>
    <dsp:sp modelId="{5D55C1E4-B314-49E4-86E7-0EB500FADB95}">
      <dsp:nvSpPr>
        <dsp:cNvPr id="0" name=""/>
        <dsp:cNvSpPr/>
      </dsp:nvSpPr>
      <dsp:spPr>
        <a:xfrm>
          <a:off x="2810656" y="3432992"/>
          <a:ext cx="1087211" cy="9144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76" tIns="96776" rIns="96776" bIns="96776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Gradient boosting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Best accuracy &amp; precision</a:t>
          </a:r>
        </a:p>
      </dsp:txBody>
      <dsp:txXfrm>
        <a:off x="2810656" y="3432992"/>
        <a:ext cx="1087211" cy="9144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4E68D-A121-7940-843B-2F5976D776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9D12A-3FAC-064C-9702-16FC32F3A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80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9D12A-3FAC-064C-9702-16FC32F3AF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27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6A9B-410C-D29D-1C4B-028B600E5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DFC58-B1AD-68D7-0B0F-A5D0AEFC98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3AB53-46E3-5469-02A9-2BA4DF88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8366A-2EF1-2CCE-B9E6-940B6E73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F5027-5477-EF72-185F-4056FE6F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070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A5BC-4BEE-F26A-0407-093BF040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60086-3620-31E1-4C50-CF33FA633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403D6-BE07-DFD0-E2CE-21481B56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44902-FA33-918D-A465-728CD5FD1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C672F-EDAA-3FCE-1FEC-E04A6189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8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D265A-0ADD-F77E-25A6-B7A7651B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BEFF8-BFC0-E032-6906-768B8F16D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26FB2-DE0C-27E3-A8DF-4DD4C1C7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5752B-B17B-764C-8562-C29FB50F4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DBEE-8302-EABC-E1A0-494B6C97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7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9ED1-E11A-0FA9-4DA1-F6A84389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B1FF2-C602-3C63-12FF-F03E7BA3B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59EBC-6EEF-85BF-1C9F-21AE1E3F9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F661F-0201-2A28-D023-634913EA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4DA37-F0E4-A159-63BD-65ECCE8D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2EA25-A6B8-3BAC-EF46-393FC10B7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2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4F39-E40C-D685-0C29-EF2CA4C8C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CC82C-E2B1-F5FC-932C-09B7C5EAE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2B427-E7EF-6DAE-A246-FFE77C1DA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5C47B-E5DF-A57C-EA17-11940B17F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E17F3-B3CB-40E3-4872-5D71E529A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542B01-88A5-4BB3-051E-F92EDD378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E6CB0-AF54-8F01-0522-947FF90F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88A887-4580-241C-9662-B3D1874A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0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47AC-2210-35C6-1737-B363FFE4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EFB30C-6EB0-46B5-67A9-9AC02CA7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0BE8F-F659-B136-8CA6-9C154DEC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3B7A2-3E0B-9F6B-2595-C34BB932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39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3FE75F-01C6-1359-32BF-E702C56E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B68796-BCCA-0A38-7810-747B1B0A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AFD49-E281-64A3-7012-745308C31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5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8371-CC2E-7AC0-1169-51E92E6A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89CC7-1EE2-F7B6-703A-B2F4CF2C4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D3DED-007B-D54E-7100-95AA7A0D2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2FCC2-23FD-B6EE-4547-79F1B10F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18870-1366-5A7D-40F6-99114905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CA528-6A12-9A2F-0D37-FBB29C9C8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5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C2BB-DF68-C279-E2BC-4A7E62BB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63717E-3636-65A1-61F1-210991F7D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9748E-0BE6-85F7-3279-51137F4E0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3BB4B-9FB4-31F3-2D4D-26AE58A2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90ECA-B5CD-B4AB-4B46-B5C11E07E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2FF80-A37E-8CA1-6D1E-D51D6E855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8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BAF6-41A4-60DD-B9B5-A00A4EBD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28D3E-E303-2D9C-D1C7-11A5FC4D7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67AC2-6671-5A6B-4594-FE905C68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F7F4B-FC90-286E-123B-65EEB2AB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F46BE-BEE1-F58E-1238-6617764BD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10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BB66C3-5BD8-78C3-2557-33EC8254C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A5D096-1A22-FB64-B4B5-EBA05CA45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2F2C6-B957-8CD8-4AC5-3952CC08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FC66A-FFC4-A57B-ED09-A93A44BB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1D689-8E45-4DC1-848E-004ECCCB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5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1318EE-C7A2-555E-5629-25570772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8779A-1FC5-07DD-5645-607FC4859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95A8A-88CC-5655-72B0-88B9470F8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3276D-D72A-C744-B391-BF0AE3C4C6A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141F0-5D39-1EAB-4804-D05DB7497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82829-C52A-3DB4-0361-366F3A7EB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D82E2-B2D9-DE40-8E01-B7AFFF52AF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https://upload.wikimedia.org/wikipedia/commons/thumb/7/7c/UT_Dallas_2_Color_Emblem_-_SVG_Brand_Identity_File.svg/1200px-UT_Dallas_2_Color_Emblem_-_SVG_Brand_Identity_File.svg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62C2-1C6B-8832-A2EB-6F83B5CEF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197" y="384245"/>
            <a:ext cx="9982200" cy="1356503"/>
          </a:xfrm>
        </p:spPr>
        <p:txBody>
          <a:bodyPr>
            <a:normAutofit/>
          </a:bodyPr>
          <a:lstStyle/>
          <a:p>
            <a:r>
              <a:rPr lang="en-US" sz="3200" b="1" kern="1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“EMPLOYEE ATTRITION PREDICTION”</a:t>
            </a:r>
            <a:br>
              <a:rPr lang="en-US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FF222-367B-94A8-E185-C5BD6D9D0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1085" y="4817993"/>
            <a:ext cx="3769829" cy="1655762"/>
          </a:xfrm>
        </p:spPr>
        <p:txBody>
          <a:bodyPr>
            <a:normAutofit lnSpcReduction="10000"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Presented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By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Mahima Bhushan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Net ID: mxb240023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66B1920-4C79-528B-130C-437D032F2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48" y="49291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A orange circle with white text&#10;&#10;Description automatically generated">
            <a:extLst>
              <a:ext uri="{FF2B5EF4-FFF2-40B4-BE49-F238E27FC236}">
                <a16:creationId xmlns:a16="http://schemas.microsoft.com/office/drawing/2014/main" id="{805616BD-2AA1-32AC-3EE6-7974928D0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440" y="2820880"/>
            <a:ext cx="1735120" cy="173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FE8AAD-87CB-29F4-28D0-10317D4E9EB6}"/>
              </a:ext>
            </a:extLst>
          </p:cNvPr>
          <p:cNvSpPr txBox="1"/>
          <p:nvPr/>
        </p:nvSpPr>
        <p:spPr>
          <a:xfrm>
            <a:off x="2903469" y="2175419"/>
            <a:ext cx="6097656" cy="426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Academic Term: Fall 2025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768415-8DE1-4883-3AF5-4041415056DB}"/>
              </a:ext>
            </a:extLst>
          </p:cNvPr>
          <p:cNvSpPr txBox="1"/>
          <p:nvPr/>
        </p:nvSpPr>
        <p:spPr>
          <a:xfrm>
            <a:off x="3047172" y="1682207"/>
            <a:ext cx="6097656" cy="49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University of Texas at Dallas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597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Employee Attrition: Meaning, Types, and Tips to Improve">
            <a:extLst>
              <a:ext uri="{FF2B5EF4-FFF2-40B4-BE49-F238E27FC236}">
                <a16:creationId xmlns:a16="http://schemas.microsoft.com/office/drawing/2014/main" id="{5E0D9AEA-07E8-189A-2626-83ED1B005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4" r="6651" b="1"/>
          <a:stretch>
            <a:fillRect/>
          </a:stretch>
        </p:blipFill>
        <p:spPr bwMode="auto">
          <a:xfrm>
            <a:off x="3034748" y="10"/>
            <a:ext cx="915725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17F7E-083B-15E1-EB32-DFC88C7BB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79" y="-390588"/>
            <a:ext cx="3822189" cy="189991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18072-69D2-1D98-509B-DDC316498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016" y="1119762"/>
            <a:ext cx="6104282" cy="45734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Trebuchet MS" panose="020B0703020202090204" pitchFamily="34" charset="0"/>
              </a:rPr>
              <a:t>What is Employee Attrition?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Employee attrition refers to employees leaving an organization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It includes resignations, retirements, and voluntary exits.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High attrition affects business continuity and increases hiring costs.</a:t>
            </a:r>
          </a:p>
          <a:p>
            <a:pPr marL="0" indent="0">
              <a:buNone/>
            </a:pPr>
            <a:endParaRPr lang="en-US" sz="1800" b="1" dirty="0">
              <a:latin typeface="Trebuchet MS" panose="020B070302020209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Trebuchet MS" panose="020B0703020202090204" pitchFamily="34" charset="0"/>
              </a:rPr>
              <a:t>Why This Matters Today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Modern companies experience rising attrition due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Better opportunities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Salary dissatisfaction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Work-life balance issues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Job dissatisfaction</a:t>
            </a:r>
          </a:p>
          <a:p>
            <a:endParaRPr lang="en-US" sz="1800" dirty="0">
              <a:latin typeface="Trebuchet MS" panose="020B070302020209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D9DE71-B372-6C28-79F1-BDA111800B65}"/>
              </a:ext>
            </a:extLst>
          </p:cNvPr>
          <p:cNvCxnSpPr>
            <a:cxnSpLocks/>
          </p:cNvCxnSpPr>
          <p:nvPr/>
        </p:nvCxnSpPr>
        <p:spPr>
          <a:xfrm>
            <a:off x="607318" y="820049"/>
            <a:ext cx="57080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4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ow to write a problem statement (with three examples) - SEEK">
            <a:extLst>
              <a:ext uri="{FF2B5EF4-FFF2-40B4-BE49-F238E27FC236}">
                <a16:creationId xmlns:a16="http://schemas.microsoft.com/office/drawing/2014/main" id="{1AFFEF91-4953-D05E-908B-8F0E77B67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27" r="-1" b="7564"/>
          <a:stretch>
            <a:fillRect/>
          </a:stretch>
        </p:blipFill>
        <p:spPr bwMode="auto">
          <a:xfrm>
            <a:off x="-1" y="10"/>
            <a:ext cx="12228129" cy="46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5" name="Group 4104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4106" name="Freeform: Shape 4105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3" name="Freeform: Shape 4106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4" name="Freeform: Shape 4107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4115" name="Freeform: Shape 4108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B20A29-6672-74C0-51D0-1E4E75690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5021782" cy="150993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B2605-170C-C7AC-834B-913BCE860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0140" y="4299093"/>
            <a:ext cx="6520070" cy="225287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rebuchet MS" panose="020B0703020202090204" pitchFamily="34" charset="0"/>
              </a:rPr>
              <a:t>Why Predict Employee Attrition?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rebuchet MS" panose="020B0703020202090204" pitchFamily="34" charset="0"/>
              </a:rPr>
              <a:t>Companies face significant financial loss when trained employees leave.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rebuchet MS" panose="020B0703020202090204" pitchFamily="34" charset="0"/>
              </a:rPr>
              <a:t>Replacing employees is time-consuming and expensive.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rebuchet MS" panose="020B0703020202090204" pitchFamily="34" charset="0"/>
              </a:rPr>
              <a:t>Attrition impacts productivity, team stability, and long-term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rebuchet MS" panose="020B0703020202090204" pitchFamily="34" charset="0"/>
              </a:rPr>
              <a:t>Predicting attrition early helps HR take preventive action.</a:t>
            </a:r>
          </a:p>
          <a:p>
            <a:endParaRPr lang="en-US" sz="1100" dirty="0">
              <a:solidFill>
                <a:schemeClr val="tx2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6FA773-7662-9C10-68E9-D3F3C80F144E}"/>
              </a:ext>
            </a:extLst>
          </p:cNvPr>
          <p:cNvCxnSpPr>
            <a:cxnSpLocks/>
          </p:cNvCxnSpPr>
          <p:nvPr/>
        </p:nvCxnSpPr>
        <p:spPr>
          <a:xfrm>
            <a:off x="921762" y="5569629"/>
            <a:ext cx="416707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876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C08C0-46F8-D498-A51B-17B01E9F1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934" y="313049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72868-8411-701F-5651-DFF536E2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587" y="1247272"/>
            <a:ext cx="4782562" cy="4860666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rebuchet MS" panose="020B0703020202090204" pitchFamily="34" charset="0"/>
              </a:rPr>
              <a:t>IBM HR Analytics Attrition Dataset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1470 employee records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35 features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Mix of numerical &amp; categorical attributes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Contains salary, job role, satisfaction,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>
                <a:latin typeface="Trebuchet MS" panose="020B0703020202090204" pitchFamily="34" charset="0"/>
              </a:rPr>
              <a:t>   manager ratings, behavior data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Trebuchet MS" panose="020B070302020209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rebuchet MS" panose="020B0703020202090204" pitchFamily="34" charset="0"/>
              </a:rPr>
              <a:t>Target Variable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Attrition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Yes = Employee left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No = Employee stayed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rebuchet MS" panose="020B0703020202090204" pitchFamily="34" charset="0"/>
              </a:rPr>
              <a:t>Key Challenge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Highly imbalanced dataset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84% No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16% Yes</a:t>
            </a:r>
          </a:p>
          <a:p>
            <a:pPr>
              <a:lnSpc>
                <a:spcPct val="90000"/>
              </a:lnSpc>
            </a:pPr>
            <a:endParaRPr lang="en-US" sz="2000" dirty="0">
              <a:latin typeface="Trebuchet MS" panose="020B0703020202090204" pitchFamily="34" charset="0"/>
            </a:endParaRPr>
          </a:p>
        </p:txBody>
      </p:sp>
      <p:pic>
        <p:nvPicPr>
          <p:cNvPr id="5" name="Picture 4" descr="A blue circle with red triangle and red triangle&#10;&#10;Description automatically generated">
            <a:extLst>
              <a:ext uri="{FF2B5EF4-FFF2-40B4-BE49-F238E27FC236}">
                <a16:creationId xmlns:a16="http://schemas.microsoft.com/office/drawing/2014/main" id="{29BAC632-D94B-2E23-1A61-BE15B5441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19" r="2" b="78"/>
          <a:stretch/>
        </p:blipFill>
        <p:spPr>
          <a:xfrm>
            <a:off x="5705723" y="1247272"/>
            <a:ext cx="5527584" cy="486066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53CE8D-30C7-9AE4-093E-31E6C2843352}"/>
              </a:ext>
            </a:extLst>
          </p:cNvPr>
          <p:cNvCxnSpPr>
            <a:cxnSpLocks/>
          </p:cNvCxnSpPr>
          <p:nvPr/>
        </p:nvCxnSpPr>
        <p:spPr>
          <a:xfrm>
            <a:off x="623587" y="863119"/>
            <a:ext cx="1095807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745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64D6A89-DE6E-2419-1DB6-4FA8B96BB1B3}"/>
              </a:ext>
            </a:extLst>
          </p:cNvPr>
          <p:cNvSpPr/>
          <p:nvPr/>
        </p:nvSpPr>
        <p:spPr>
          <a:xfrm>
            <a:off x="589560" y="1363813"/>
            <a:ext cx="10065741" cy="516118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1606B-8A12-FD6B-A6AC-3CBF6B306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544" y="-94147"/>
            <a:ext cx="8596668" cy="13208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System Architecture Diagram</a:t>
            </a:r>
          </a:p>
        </p:txBody>
      </p:sp>
      <p:pic>
        <p:nvPicPr>
          <p:cNvPr id="7" name="Graphic 6" descr="Document with solid fill">
            <a:extLst>
              <a:ext uri="{FF2B5EF4-FFF2-40B4-BE49-F238E27FC236}">
                <a16:creationId xmlns:a16="http://schemas.microsoft.com/office/drawing/2014/main" id="{6BFA68BB-9D1A-44FF-9B52-538B11C2C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92242" y="1762895"/>
            <a:ext cx="914400" cy="914400"/>
          </a:xfrm>
          <a:prstGeom prst="rect">
            <a:avLst/>
          </a:prstGeom>
        </p:spPr>
      </p:pic>
      <p:pic>
        <p:nvPicPr>
          <p:cNvPr id="11" name="Graphic 10" descr="Statistics with solid fill">
            <a:extLst>
              <a:ext uri="{FF2B5EF4-FFF2-40B4-BE49-F238E27FC236}">
                <a16:creationId xmlns:a16="http://schemas.microsoft.com/office/drawing/2014/main" id="{F2F89971-9BF3-315C-C301-01FBC06CAF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7357" y="1762895"/>
            <a:ext cx="914400" cy="914400"/>
          </a:xfrm>
          <a:prstGeom prst="rect">
            <a:avLst/>
          </a:prstGeom>
        </p:spPr>
      </p:pic>
      <p:pic>
        <p:nvPicPr>
          <p:cNvPr id="13" name="Graphic 12" descr="Venn diagram with solid fill">
            <a:extLst>
              <a:ext uri="{FF2B5EF4-FFF2-40B4-BE49-F238E27FC236}">
                <a16:creationId xmlns:a16="http://schemas.microsoft.com/office/drawing/2014/main" id="{C7156244-5A8A-CCB8-E7A8-90F0B26A6E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6720" y="4223555"/>
            <a:ext cx="914400" cy="914400"/>
          </a:xfrm>
          <a:prstGeom prst="rect">
            <a:avLst/>
          </a:prstGeom>
        </p:spPr>
      </p:pic>
      <p:pic>
        <p:nvPicPr>
          <p:cNvPr id="15" name="Graphic 14" descr="Left Brain with solid fill">
            <a:extLst>
              <a:ext uri="{FF2B5EF4-FFF2-40B4-BE49-F238E27FC236}">
                <a16:creationId xmlns:a16="http://schemas.microsoft.com/office/drawing/2014/main" id="{F43F2C36-FA42-FA25-A4FE-6630FC0D4B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67412" y="4241484"/>
            <a:ext cx="914400" cy="914400"/>
          </a:xfrm>
          <a:prstGeom prst="rect">
            <a:avLst/>
          </a:prstGeom>
        </p:spPr>
      </p:pic>
      <p:pic>
        <p:nvPicPr>
          <p:cNvPr id="17" name="Graphic 16" descr="Clipboard Mixed with solid fill">
            <a:extLst>
              <a:ext uri="{FF2B5EF4-FFF2-40B4-BE49-F238E27FC236}">
                <a16:creationId xmlns:a16="http://schemas.microsoft.com/office/drawing/2014/main" id="{8D65CBDF-C694-751A-5A10-F75E706F35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89550" y="4241484"/>
            <a:ext cx="914400" cy="914400"/>
          </a:xfrm>
          <a:prstGeom prst="rect">
            <a:avLst/>
          </a:prstGeom>
        </p:spPr>
      </p:pic>
      <p:pic>
        <p:nvPicPr>
          <p:cNvPr id="19" name="Graphic 18" descr="Lightbulb with solid fill">
            <a:extLst>
              <a:ext uri="{FF2B5EF4-FFF2-40B4-BE49-F238E27FC236}">
                <a16:creationId xmlns:a16="http://schemas.microsoft.com/office/drawing/2014/main" id="{505202FF-36E3-1046-89AB-5542CE780D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56183" y="4169172"/>
            <a:ext cx="914400" cy="914400"/>
          </a:xfrm>
          <a:prstGeom prst="rect">
            <a:avLst/>
          </a:prstGeom>
        </p:spPr>
      </p:pic>
      <p:sp>
        <p:nvSpPr>
          <p:cNvPr id="20" name="Right Arrow 19">
            <a:extLst>
              <a:ext uri="{FF2B5EF4-FFF2-40B4-BE49-F238E27FC236}">
                <a16:creationId xmlns:a16="http://schemas.microsoft.com/office/drawing/2014/main" id="{FB9070A4-573C-D795-06DC-ECB94E423488}"/>
              </a:ext>
            </a:extLst>
          </p:cNvPr>
          <p:cNvSpPr/>
          <p:nvPr/>
        </p:nvSpPr>
        <p:spPr>
          <a:xfrm>
            <a:off x="3730741" y="2134776"/>
            <a:ext cx="699247" cy="27969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539883E9-7229-55AA-5C55-03FD8A78D7CD}"/>
              </a:ext>
            </a:extLst>
          </p:cNvPr>
          <p:cNvSpPr/>
          <p:nvPr/>
        </p:nvSpPr>
        <p:spPr>
          <a:xfrm>
            <a:off x="6613536" y="2080245"/>
            <a:ext cx="699247" cy="27969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Bent Arrow 22">
            <a:extLst>
              <a:ext uri="{FF2B5EF4-FFF2-40B4-BE49-F238E27FC236}">
                <a16:creationId xmlns:a16="http://schemas.microsoft.com/office/drawing/2014/main" id="{7F9E88D9-D5DD-EF61-285C-BC5B4DA88C1C}"/>
              </a:ext>
            </a:extLst>
          </p:cNvPr>
          <p:cNvSpPr/>
          <p:nvPr/>
        </p:nvSpPr>
        <p:spPr>
          <a:xfrm rot="5400000">
            <a:off x="9100262" y="2516013"/>
            <a:ext cx="875486" cy="563348"/>
          </a:xfrm>
          <a:prstGeom prst="ben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8EDDFAFB-8FAF-0669-F55A-76AE91311A98}"/>
              </a:ext>
            </a:extLst>
          </p:cNvPr>
          <p:cNvSpPr/>
          <p:nvPr/>
        </p:nvSpPr>
        <p:spPr>
          <a:xfrm rot="5400000">
            <a:off x="8233585" y="4267784"/>
            <a:ext cx="299167" cy="71717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BEAAB355-6EB4-ECDB-8D68-456F1109F7DC}"/>
              </a:ext>
            </a:extLst>
          </p:cNvPr>
          <p:cNvSpPr/>
          <p:nvPr/>
        </p:nvSpPr>
        <p:spPr>
          <a:xfrm rot="5400000">
            <a:off x="5311447" y="4267784"/>
            <a:ext cx="299167" cy="71717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9F4ABF09-31DE-4403-4F65-9A29A668D9D0}"/>
              </a:ext>
            </a:extLst>
          </p:cNvPr>
          <p:cNvSpPr/>
          <p:nvPr/>
        </p:nvSpPr>
        <p:spPr>
          <a:xfrm rot="5400000">
            <a:off x="2665090" y="4340096"/>
            <a:ext cx="299167" cy="717176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484349-CE69-E476-6CF4-A6418F659B17}"/>
              </a:ext>
            </a:extLst>
          </p:cNvPr>
          <p:cNvSpPr txBox="1"/>
          <p:nvPr/>
        </p:nvSpPr>
        <p:spPr>
          <a:xfrm>
            <a:off x="1679091" y="2708151"/>
            <a:ext cx="23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IMPORT DATASET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95A33F-FE9C-70BC-9835-7C77EC54F277}"/>
              </a:ext>
            </a:extLst>
          </p:cNvPr>
          <p:cNvSpPr txBox="1"/>
          <p:nvPr/>
        </p:nvSpPr>
        <p:spPr>
          <a:xfrm>
            <a:off x="4290679" y="2749716"/>
            <a:ext cx="234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</a:t>
            </a:r>
          </a:p>
          <a:p>
            <a:pPr algn="ctr"/>
            <a:r>
              <a:rPr lang="en-US" dirty="0"/>
              <a:t>PREPROCESSING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710F85-03AA-8571-4D36-F2CD430C3290}"/>
              </a:ext>
            </a:extLst>
          </p:cNvPr>
          <p:cNvSpPr txBox="1"/>
          <p:nvPr/>
        </p:nvSpPr>
        <p:spPr>
          <a:xfrm>
            <a:off x="7087004" y="2735609"/>
            <a:ext cx="23407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EXPLORATORY</a:t>
            </a:r>
          </a:p>
          <a:p>
            <a:pPr algn="ctr"/>
            <a:r>
              <a:rPr lang="en-US" dirty="0"/>
              <a:t>DATA ANALYSIS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07E014-A795-DAB3-C95E-FEA403756EFB}"/>
              </a:ext>
            </a:extLst>
          </p:cNvPr>
          <p:cNvSpPr txBox="1"/>
          <p:nvPr/>
        </p:nvSpPr>
        <p:spPr>
          <a:xfrm>
            <a:off x="8443032" y="5071979"/>
            <a:ext cx="23407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FEATURE ENGINEERING</a:t>
            </a:r>
          </a:p>
          <a:p>
            <a:pPr algn="ctr"/>
            <a:r>
              <a:rPr lang="en-US" dirty="0"/>
              <a:t>/ENCODING/</a:t>
            </a:r>
          </a:p>
          <a:p>
            <a:pPr algn="ctr"/>
            <a:r>
              <a:rPr lang="en-US" dirty="0"/>
              <a:t>SCALING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8313B4-BA1A-E795-661A-704E2A85744D}"/>
              </a:ext>
            </a:extLst>
          </p:cNvPr>
          <p:cNvSpPr txBox="1"/>
          <p:nvPr/>
        </p:nvSpPr>
        <p:spPr>
          <a:xfrm>
            <a:off x="5819619" y="5171423"/>
            <a:ext cx="2340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TRAINING </a:t>
            </a:r>
          </a:p>
          <a:p>
            <a:pPr algn="ctr"/>
            <a:r>
              <a:rPr lang="en-US" dirty="0"/>
              <a:t>AND </a:t>
            </a:r>
          </a:p>
          <a:p>
            <a:pPr algn="ctr"/>
            <a:r>
              <a:rPr lang="en-US" dirty="0"/>
              <a:t>TESTING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C07557-D92D-FA32-A7C7-DC8F05F4E000}"/>
              </a:ext>
            </a:extLst>
          </p:cNvPr>
          <p:cNvSpPr txBox="1"/>
          <p:nvPr/>
        </p:nvSpPr>
        <p:spPr>
          <a:xfrm>
            <a:off x="2912668" y="5159830"/>
            <a:ext cx="2340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ML ALGORITHMS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C77331-D8E7-936C-599E-69D483F92E43}"/>
              </a:ext>
            </a:extLst>
          </p:cNvPr>
          <p:cNvSpPr txBox="1"/>
          <p:nvPr/>
        </p:nvSpPr>
        <p:spPr>
          <a:xfrm>
            <a:off x="461127" y="5132120"/>
            <a:ext cx="23407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COMPARING</a:t>
            </a:r>
          </a:p>
          <a:p>
            <a:pPr algn="ctr"/>
            <a:r>
              <a:rPr lang="en-US" dirty="0"/>
              <a:t>MODEL</a:t>
            </a:r>
          </a:p>
          <a:p>
            <a:pPr algn="ctr"/>
            <a:r>
              <a:rPr lang="en-US" dirty="0"/>
              <a:t>PERFORMANCE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F9D98F-21FA-F127-FB86-554B2E7F778E}"/>
              </a:ext>
            </a:extLst>
          </p:cNvPr>
          <p:cNvSpPr txBox="1"/>
          <p:nvPr/>
        </p:nvSpPr>
        <p:spPr>
          <a:xfrm>
            <a:off x="1634836" y="-1995055"/>
            <a:ext cx="184731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8" name="Graphic 37" descr="Circles with lines with solid fill">
            <a:extLst>
              <a:ext uri="{FF2B5EF4-FFF2-40B4-BE49-F238E27FC236}">
                <a16:creationId xmlns:a16="http://schemas.microsoft.com/office/drawing/2014/main" id="{F1E077B1-E951-8CFD-74C0-E276666B38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85612" y="1602891"/>
            <a:ext cx="1175089" cy="1175089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31E7599-3130-6C06-369B-317CFB3E3F61}"/>
              </a:ext>
            </a:extLst>
          </p:cNvPr>
          <p:cNvCxnSpPr>
            <a:cxnSpLocks/>
          </p:cNvCxnSpPr>
          <p:nvPr/>
        </p:nvCxnSpPr>
        <p:spPr>
          <a:xfrm>
            <a:off x="589560" y="833965"/>
            <a:ext cx="1095807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462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B9695-56E3-FA59-12F3-92ADB03D6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39" y="14099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Exploratory Data Analysis (EDA)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</a:br>
            <a:endParaRPr lang="en-US" sz="3600" dirty="0">
              <a:solidFill>
                <a:schemeClr val="accent1">
                  <a:lumMod val="50000"/>
                </a:schemeClr>
              </a:solidFill>
              <a:latin typeface="Trebuchet MS" panose="020B070302020209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5B676-74CE-048C-3393-24841B1C4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476" y="1078613"/>
            <a:ext cx="11274522" cy="301026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rebuchet MS" panose="020B0703020202090204" pitchFamily="34" charset="0"/>
              </a:rPr>
              <a:t>Observations from EDA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rebuchet MS" panose="020B0703020202090204" pitchFamily="34" charset="0"/>
              </a:rPr>
              <a:t>Younger employees </a:t>
            </a:r>
            <a:r>
              <a:rPr lang="en-US" sz="1600" dirty="0">
                <a:latin typeface="Trebuchet MS" panose="020B0703020202090204" pitchFamily="34" charset="0"/>
              </a:rPr>
              <a:t>show higher attrition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rebuchet MS" panose="020B0703020202090204" pitchFamily="34" charset="0"/>
              </a:rPr>
              <a:t>Lower salary </a:t>
            </a:r>
            <a:r>
              <a:rPr lang="en-US" sz="1600" dirty="0">
                <a:latin typeface="Trebuchet MS" panose="020B0703020202090204" pitchFamily="34" charset="0"/>
              </a:rPr>
              <a:t>ranges show more attrition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rebuchet MS" panose="020B0703020202090204" pitchFamily="34" charset="0"/>
              </a:rPr>
              <a:t>Overtime workers </a:t>
            </a:r>
            <a:r>
              <a:rPr lang="en-US" sz="1600" dirty="0">
                <a:latin typeface="Trebuchet MS" panose="020B0703020202090204" pitchFamily="34" charset="0"/>
              </a:rPr>
              <a:t>show significantly higher attrition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rebuchet MS" panose="020B0703020202090204" pitchFamily="34" charset="0"/>
              </a:rPr>
              <a:t>Single employees</a:t>
            </a:r>
            <a:r>
              <a:rPr lang="en-US" sz="1600" dirty="0">
                <a:latin typeface="Trebuchet MS" panose="020B0703020202090204" pitchFamily="34" charset="0"/>
              </a:rPr>
              <a:t> show higher attrition than married ones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Trebuchet MS" panose="020B0703020202090204" pitchFamily="34" charset="0"/>
              </a:rPr>
              <a:t>Highest attrition roles: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Sales Representative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Laboratory Technician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rebuchet MS" panose="020B0703020202090204" pitchFamily="34" charset="0"/>
              </a:rPr>
              <a:t>Research Scientist</a:t>
            </a:r>
          </a:p>
          <a:p>
            <a:pPr algn="just"/>
            <a:endParaRPr lang="en-US" sz="1800" dirty="0">
              <a:latin typeface="Trebuchet MS" panose="020B0703020202090204" pitchFamily="34" charset="0"/>
            </a:endParaRP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244219B0-F694-C8FD-F919-DFCDF29FE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62" t="13861" b="38103"/>
          <a:stretch/>
        </p:blipFill>
        <p:spPr>
          <a:xfrm>
            <a:off x="588476" y="4348766"/>
            <a:ext cx="4363480" cy="24616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D65DF1B-D254-7148-6043-93502B887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39" y="-9451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350FD896-4601-9B19-13D1-C1032BA9C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327" b="62175"/>
          <a:stretch/>
        </p:blipFill>
        <p:spPr>
          <a:xfrm>
            <a:off x="4718575" y="4361466"/>
            <a:ext cx="3993903" cy="24551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20EA994E-F2B5-C217-1E3E-6AD5F9F474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179"/>
          <a:stretch/>
        </p:blipFill>
        <p:spPr>
          <a:xfrm>
            <a:off x="8483600" y="4348766"/>
            <a:ext cx="3665063" cy="245511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F36EF0-AFD7-1859-6852-30C099FC7B93}"/>
              </a:ext>
            </a:extLst>
          </p:cNvPr>
          <p:cNvCxnSpPr>
            <a:cxnSpLocks/>
          </p:cNvCxnSpPr>
          <p:nvPr/>
        </p:nvCxnSpPr>
        <p:spPr>
          <a:xfrm>
            <a:off x="589560" y="818725"/>
            <a:ext cx="1095807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68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8134-C824-2D68-A433-DDE7D0A4F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31" y="264503"/>
            <a:ext cx="10515600" cy="63976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  <a:cs typeface="Times New Roman" panose="02020603050405020304" pitchFamily="18" charset="0"/>
              </a:rPr>
              <a:t>Correlation Insights (Numerical Features)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ED187-AC96-EF2B-6F2F-4076A0108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62" y="1146651"/>
            <a:ext cx="5695950" cy="4351338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rebuchet MS" panose="020B0703020202090204" pitchFamily="34" charset="0"/>
              </a:rPr>
              <a:t>Correlation Heatmap Findings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Strong correlations: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Trebuchet MS" panose="020B0703020202090204" pitchFamily="34" charset="0"/>
              </a:rPr>
              <a:t>JobLevel</a:t>
            </a:r>
            <a:r>
              <a:rPr lang="en-US" sz="1800" dirty="0">
                <a:latin typeface="Trebuchet MS" panose="020B0703020202090204" pitchFamily="34" charset="0"/>
              </a:rPr>
              <a:t> and </a:t>
            </a:r>
            <a:r>
              <a:rPr lang="en-US" sz="1800" dirty="0" err="1">
                <a:latin typeface="Trebuchet MS" panose="020B0703020202090204" pitchFamily="34" charset="0"/>
              </a:rPr>
              <a:t>MonthlyIncome</a:t>
            </a:r>
            <a:endParaRPr lang="en-US" sz="18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Trebuchet MS" panose="020B0703020202090204" pitchFamily="34" charset="0"/>
              </a:rPr>
              <a:t>TotalWorkingYears</a:t>
            </a:r>
            <a:r>
              <a:rPr lang="en-US" sz="1800" dirty="0">
                <a:latin typeface="Trebuchet MS" panose="020B0703020202090204" pitchFamily="34" charset="0"/>
              </a:rPr>
              <a:t> and </a:t>
            </a:r>
            <a:r>
              <a:rPr lang="en-US" sz="1800" dirty="0" err="1">
                <a:latin typeface="Trebuchet MS" panose="020B0703020202090204" pitchFamily="34" charset="0"/>
              </a:rPr>
              <a:t>YearsAtCompany</a:t>
            </a:r>
            <a:endParaRPr lang="en-US" sz="1800" dirty="0">
              <a:latin typeface="Trebuchet MS" panose="020B070302020209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Trebuchet MS" panose="020B0703020202090204" pitchFamily="34" charset="0"/>
              </a:rPr>
              <a:t>YearsInCurrentRole</a:t>
            </a:r>
            <a:r>
              <a:rPr lang="en-US" sz="1800" dirty="0">
                <a:latin typeface="Trebuchet MS" panose="020B0703020202090204" pitchFamily="34" charset="0"/>
              </a:rPr>
              <a:t> and </a:t>
            </a:r>
            <a:r>
              <a:rPr lang="en-US" sz="1800" dirty="0" err="1">
                <a:latin typeface="Trebuchet MS" panose="020B0703020202090204" pitchFamily="34" charset="0"/>
              </a:rPr>
              <a:t>YearsWithCurrManager</a:t>
            </a:r>
            <a:endParaRPr lang="en-US" sz="1800" dirty="0">
              <a:latin typeface="Trebuchet MS" panose="020B070302020209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Weak correlation between attrition and individual numeric features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Attrition is driven by </a:t>
            </a:r>
            <a:r>
              <a:rPr lang="en-US" sz="1800" b="1" dirty="0">
                <a:latin typeface="Trebuchet MS" panose="020B0703020202090204" pitchFamily="34" charset="0"/>
              </a:rPr>
              <a:t>nonlinear </a:t>
            </a:r>
            <a:r>
              <a:rPr lang="en-US" sz="1800" dirty="0">
                <a:latin typeface="Trebuchet MS" panose="020B0703020202090204" pitchFamily="34" charset="0"/>
              </a:rPr>
              <a:t>multi-factor interactions</a:t>
            </a:r>
          </a:p>
          <a:p>
            <a:pPr marL="0" indent="0">
              <a:buNone/>
            </a:pPr>
            <a:endParaRPr lang="en-US" sz="1800" dirty="0">
              <a:latin typeface="Trebuchet MS" panose="020B0703020202090204" pitchFamily="34" charset="0"/>
            </a:endParaRP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DDC0051D-731A-FF1F-05CE-DC13DD48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940" y="1146651"/>
            <a:ext cx="5504025" cy="435133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E5D5D5-D7F8-D298-E786-7B83E237E7B8}"/>
              </a:ext>
            </a:extLst>
          </p:cNvPr>
          <p:cNvCxnSpPr>
            <a:cxnSpLocks/>
          </p:cNvCxnSpPr>
          <p:nvPr/>
        </p:nvCxnSpPr>
        <p:spPr>
          <a:xfrm>
            <a:off x="616962" y="821977"/>
            <a:ext cx="1095807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222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4,500+ Pipeline Background Stock Illustrations, Royalty-Free Vector  Graphics &amp; Clip Art - iStock">
            <a:extLst>
              <a:ext uri="{FF2B5EF4-FFF2-40B4-BE49-F238E27FC236}">
                <a16:creationId xmlns:a16="http://schemas.microsoft.com/office/drawing/2014/main" id="{FE64857D-197E-851C-0A1B-15D6EDE75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93"/>
          <a:stretch/>
        </p:blipFill>
        <p:spPr bwMode="auto">
          <a:xfrm>
            <a:off x="6294120" y="2135096"/>
            <a:ext cx="5897880" cy="4722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269D03-9FC0-3C9F-92C8-AE6B2EDD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70" y="327041"/>
            <a:ext cx="10515600" cy="5092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Data Preprocessing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9DFB7-AD31-C87D-E813-2BAC0E1F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55914"/>
            <a:ext cx="10515600" cy="4895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rebuchet MS" panose="020B0703020202090204" pitchFamily="34" charset="0"/>
              </a:rPr>
              <a:t>Steps Performed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Removed non-informative columns:</a:t>
            </a:r>
          </a:p>
          <a:p>
            <a:pPr marL="0" indent="0">
              <a:buNone/>
            </a:pPr>
            <a:r>
              <a:rPr lang="en-US" sz="1800" dirty="0">
                <a:latin typeface="Trebuchet MS" panose="020B0703020202090204" pitchFamily="34" charset="0"/>
              </a:rPr>
              <a:t>   </a:t>
            </a:r>
            <a:r>
              <a:rPr lang="en-US" sz="1800" dirty="0" err="1">
                <a:latin typeface="Trebuchet MS" panose="020B0703020202090204" pitchFamily="34" charset="0"/>
              </a:rPr>
              <a:t>EmployeeCount</a:t>
            </a:r>
            <a:r>
              <a:rPr lang="en-US" sz="1800" dirty="0">
                <a:latin typeface="Trebuchet MS" panose="020B0703020202090204" pitchFamily="34" charset="0"/>
              </a:rPr>
              <a:t>, </a:t>
            </a:r>
            <a:r>
              <a:rPr lang="en-US" sz="1800" dirty="0" err="1">
                <a:latin typeface="Trebuchet MS" panose="020B0703020202090204" pitchFamily="34" charset="0"/>
              </a:rPr>
              <a:t>StandardHours</a:t>
            </a:r>
            <a:r>
              <a:rPr lang="en-US" sz="1800" dirty="0">
                <a:latin typeface="Trebuchet MS" panose="020B0703020202090204" pitchFamily="34" charset="0"/>
              </a:rPr>
              <a:t>, Over18, </a:t>
            </a:r>
            <a:r>
              <a:rPr lang="en-US" sz="1800" dirty="0" err="1">
                <a:latin typeface="Trebuchet MS" panose="020B0703020202090204" pitchFamily="34" charset="0"/>
              </a:rPr>
              <a:t>EmployeeNumber</a:t>
            </a:r>
            <a:endParaRPr lang="en-US" sz="1800" dirty="0">
              <a:latin typeface="Trebuchet MS" panose="020B070302020209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One-Hot Encoding for categorical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err="1">
                <a:latin typeface="Trebuchet MS" panose="020B0703020202090204" pitchFamily="34" charset="0"/>
              </a:rPr>
              <a:t>StandardScaler</a:t>
            </a:r>
            <a:r>
              <a:rPr lang="en-US" sz="1800" dirty="0">
                <a:latin typeface="Trebuchet MS" panose="020B0703020202090204" pitchFamily="34" charset="0"/>
              </a:rPr>
              <a:t> for numerical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Train-Test split (80% / 20%)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Handled imbalance using </a:t>
            </a:r>
            <a:r>
              <a:rPr lang="en-US" sz="1800" b="1" dirty="0">
                <a:latin typeface="Trebuchet MS" panose="020B0703020202090204" pitchFamily="34" charset="0"/>
              </a:rPr>
              <a:t>SMOTE</a:t>
            </a:r>
            <a:endParaRPr lang="en-US" sz="1800" dirty="0">
              <a:latin typeface="Trebuchet MS" panose="020B0703020202090204" pitchFamily="34" charset="0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accent1">
                  <a:lumMod val="75000"/>
                </a:schemeClr>
              </a:solidFill>
              <a:latin typeface="Trebuchet MS" panose="020B070302020209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rebuchet MS" panose="020B0703020202090204" pitchFamily="34" charset="0"/>
              </a:rPr>
              <a:t>Why SMOTE?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Prevents model from ignoring minority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Creates synthetic “Yes” samples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Improves recall &amp; F1-score</a:t>
            </a:r>
          </a:p>
          <a:p>
            <a:endParaRPr lang="en-US" sz="1800" dirty="0">
              <a:latin typeface="Trebuchet MS" panose="020B070302020209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AC913FF-72A3-441B-9628-FA7DE46D8DC8}"/>
              </a:ext>
            </a:extLst>
          </p:cNvPr>
          <p:cNvCxnSpPr>
            <a:cxnSpLocks/>
          </p:cNvCxnSpPr>
          <p:nvPr/>
        </p:nvCxnSpPr>
        <p:spPr>
          <a:xfrm>
            <a:off x="616962" y="837217"/>
            <a:ext cx="1095807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42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0FDE0D1-A9BD-CBE8-78A0-D1FFB65968CD}"/>
              </a:ext>
            </a:extLst>
          </p:cNvPr>
          <p:cNvSpPr/>
          <p:nvPr/>
        </p:nvSpPr>
        <p:spPr>
          <a:xfrm>
            <a:off x="5189220" y="1378080"/>
            <a:ext cx="5829300" cy="21640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A0DD9-972F-9BCB-EBFC-26E49B2D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11347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Models Implemented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</a:br>
            <a:endParaRPr lang="en-US" sz="3600" b="1" dirty="0">
              <a:solidFill>
                <a:schemeClr val="accent1">
                  <a:lumMod val="50000"/>
                </a:schemeClr>
              </a:solidFill>
              <a:latin typeface="Trebuchet MS" panose="020B0703020202090204" pitchFamily="34" charset="0"/>
            </a:endParaRPr>
          </a:p>
        </p:txBody>
      </p:sp>
      <p:graphicFrame>
        <p:nvGraphicFramePr>
          <p:cNvPr id="7172" name="Content Placeholder 2">
            <a:extLst>
              <a:ext uri="{FF2B5EF4-FFF2-40B4-BE49-F238E27FC236}">
                <a16:creationId xmlns:a16="http://schemas.microsoft.com/office/drawing/2014/main" id="{EFCDFEA7-2C37-A2A9-F350-C55AFF1FD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001362"/>
              </p:ext>
            </p:extLst>
          </p:nvPr>
        </p:nvGraphicFramePr>
        <p:xfrm>
          <a:off x="616962" y="1439038"/>
          <a:ext cx="38989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7EB17A-3EE0-BD18-9C9A-6039D86854E9}"/>
              </a:ext>
            </a:extLst>
          </p:cNvPr>
          <p:cNvSpPr txBox="1"/>
          <p:nvPr/>
        </p:nvSpPr>
        <p:spPr>
          <a:xfrm>
            <a:off x="5424721" y="1378080"/>
            <a:ext cx="5029200" cy="1703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Trebuchet MS" panose="020B0703020202090204" pitchFamily="34" charset="0"/>
              </a:rPr>
              <a:t>Why these models?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Covers both linear &amp; nonlinear behaviors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Allows performance comparison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rebuchet MS" panose="020B0703020202090204" pitchFamily="34" charset="0"/>
              </a:rPr>
              <a:t>Tree models handle HR complexity well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DDE6DB-E831-ABDB-80DE-91A4EBDD3F63}"/>
              </a:ext>
            </a:extLst>
          </p:cNvPr>
          <p:cNvCxnSpPr>
            <a:cxnSpLocks/>
          </p:cNvCxnSpPr>
          <p:nvPr/>
        </p:nvCxnSpPr>
        <p:spPr>
          <a:xfrm>
            <a:off x="616962" y="806737"/>
            <a:ext cx="1095807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240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76B1-2F9B-4ACC-8EA8-0097048A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7D0F3-264C-66E6-EA90-81C1F2F3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" y="201974"/>
            <a:ext cx="10515600" cy="108760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Logistic Regression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</a:br>
            <a:endParaRPr lang="en-US" sz="3600" b="1" dirty="0">
              <a:solidFill>
                <a:schemeClr val="accent1">
                  <a:lumMod val="50000"/>
                </a:schemeClr>
              </a:solidFill>
              <a:latin typeface="Trebuchet MS" panose="020B0703020202090204" pitchFamily="34" charset="0"/>
            </a:endParaRPr>
          </a:p>
        </p:txBody>
      </p:sp>
      <p:pic>
        <p:nvPicPr>
          <p:cNvPr id="8" name="Picture 7" descr="A screenshot of a graph&#10;&#10;Description automatically generated">
            <a:extLst>
              <a:ext uri="{FF2B5EF4-FFF2-40B4-BE49-F238E27FC236}">
                <a16:creationId xmlns:a16="http://schemas.microsoft.com/office/drawing/2014/main" id="{B056C568-CDFB-DF42-6B51-6EE2E3B813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723" b="70414"/>
          <a:stretch/>
        </p:blipFill>
        <p:spPr>
          <a:xfrm>
            <a:off x="616962" y="1302832"/>
            <a:ext cx="5010150" cy="19902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47CE8CEB-609E-1BDF-6F01-0F7DF45A04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32" t="28756" r="14497"/>
          <a:stretch/>
        </p:blipFill>
        <p:spPr>
          <a:xfrm>
            <a:off x="5925562" y="1289580"/>
            <a:ext cx="5334000" cy="4442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553A14-0F66-7C46-8671-23DEFF8A9541}"/>
              </a:ext>
            </a:extLst>
          </p:cNvPr>
          <p:cNvSpPr txBox="1"/>
          <p:nvPr/>
        </p:nvSpPr>
        <p:spPr>
          <a:xfrm>
            <a:off x="616962" y="3686336"/>
            <a:ext cx="5010150" cy="14206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703020202090204" pitchFamily="34" charset="0"/>
              </a:rPr>
              <a:t>Best recall among all models (60%)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703020202090204" pitchFamily="34" charset="0"/>
              </a:rPr>
              <a:t>Good at detecting employees who leave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703020202090204" pitchFamily="34" charset="0"/>
              </a:rPr>
              <a:t>Lower precision → more false positives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2BCD7F-F68C-8ED8-DA40-074AE8710747}"/>
              </a:ext>
            </a:extLst>
          </p:cNvPr>
          <p:cNvCxnSpPr>
            <a:cxnSpLocks/>
          </p:cNvCxnSpPr>
          <p:nvPr/>
        </p:nvCxnSpPr>
        <p:spPr>
          <a:xfrm>
            <a:off x="616962" y="776257"/>
            <a:ext cx="1095807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41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2EC7-202E-96EF-B695-5C492A59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07C2-7D2B-1F79-385A-BFAF6D99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792" y="-13709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Decision Tree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9942FED-A86D-E1AB-CFAB-F9CE495E8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08" r="35526" b="69116"/>
          <a:stretch/>
        </p:blipFill>
        <p:spPr>
          <a:xfrm>
            <a:off x="616962" y="1218139"/>
            <a:ext cx="4776942" cy="17064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C081727-9204-04A1-C914-88D2B86778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272" r="25987"/>
          <a:stretch/>
        </p:blipFill>
        <p:spPr>
          <a:xfrm>
            <a:off x="6058721" y="1218139"/>
            <a:ext cx="5321300" cy="45290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CCC4C0-4ACF-5DAC-1E98-1560B7A335FD}"/>
              </a:ext>
            </a:extLst>
          </p:cNvPr>
          <p:cNvSpPr txBox="1"/>
          <p:nvPr/>
        </p:nvSpPr>
        <p:spPr>
          <a:xfrm>
            <a:off x="616962" y="3223332"/>
            <a:ext cx="4776942" cy="12879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Higher accuracy than Logistic Regression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Overfits [weaker recall (40%)]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Less reliable for imbalanced data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BE74C3-9E84-BA7E-03E7-64075C086486}"/>
              </a:ext>
            </a:extLst>
          </p:cNvPr>
          <p:cNvCxnSpPr>
            <a:cxnSpLocks/>
          </p:cNvCxnSpPr>
          <p:nvPr/>
        </p:nvCxnSpPr>
        <p:spPr>
          <a:xfrm>
            <a:off x="616962" y="776257"/>
            <a:ext cx="1095807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038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746C-775A-CB04-062A-2F926D58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5F83-FB8A-7F68-4FFD-4EAC0F101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135" y="8299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Random Forest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</a:br>
            <a:endParaRPr lang="en-US" sz="3600" b="1" dirty="0">
              <a:solidFill>
                <a:schemeClr val="accent1">
                  <a:lumMod val="50000"/>
                </a:schemeClr>
              </a:solidFill>
              <a:latin typeface="Trebuchet MS" panose="020B0703020202090204" pitchFamily="34" charset="0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D77C180-5D0D-8E97-F948-D99CC446C0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64" r="37766" b="68452"/>
          <a:stretch/>
        </p:blipFill>
        <p:spPr>
          <a:xfrm>
            <a:off x="616962" y="1316648"/>
            <a:ext cx="4773915" cy="15093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1424C90-20A8-250E-85DF-4FE3F268D4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0" t="46624" r="28875" b="-2381"/>
          <a:stretch/>
        </p:blipFill>
        <p:spPr>
          <a:xfrm>
            <a:off x="6059007" y="1316648"/>
            <a:ext cx="5186201" cy="4411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AEED97-1B0B-E521-0961-9168028C5A35}"/>
              </a:ext>
            </a:extLst>
          </p:cNvPr>
          <p:cNvSpPr txBox="1"/>
          <p:nvPr/>
        </p:nvSpPr>
        <p:spPr>
          <a:xfrm>
            <a:off x="616962" y="3187482"/>
            <a:ext cx="4773915" cy="12879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Strong overall accuracy (84%)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Precision improved (50%)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Low recall [misses many attrition cases]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62EBDCA-8AB2-9743-591C-046D8F37CB28}"/>
              </a:ext>
            </a:extLst>
          </p:cNvPr>
          <p:cNvCxnSpPr>
            <a:cxnSpLocks/>
          </p:cNvCxnSpPr>
          <p:nvPr/>
        </p:nvCxnSpPr>
        <p:spPr>
          <a:xfrm>
            <a:off x="616962" y="776257"/>
            <a:ext cx="1095807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302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2E76-83DF-284F-F4D7-B9AB261C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0FB7D-6401-8C68-F444-83994631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242" y="8299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XGBoost</a:t>
            </a:r>
            <a:b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</a:br>
            <a:endParaRPr lang="en-US" sz="3600" b="1" dirty="0">
              <a:solidFill>
                <a:schemeClr val="accent1">
                  <a:lumMod val="50000"/>
                </a:schemeClr>
              </a:solidFill>
              <a:latin typeface="Trebuchet MS" panose="020B0703020202090204" pitchFamily="34" charset="0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E7EC373-031C-BE0B-C4CD-C181067433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10" r="37937" b="66657"/>
          <a:stretch/>
        </p:blipFill>
        <p:spPr>
          <a:xfrm>
            <a:off x="616962" y="1210269"/>
            <a:ext cx="4311297" cy="16760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8A02B40-BC3C-F08A-138C-672406BB5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570" r="30635" b="3477"/>
          <a:stretch/>
        </p:blipFill>
        <p:spPr>
          <a:xfrm>
            <a:off x="5576312" y="1184272"/>
            <a:ext cx="5353050" cy="42588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F91374-7988-E83C-8995-00142818A45F}"/>
              </a:ext>
            </a:extLst>
          </p:cNvPr>
          <p:cNvSpPr txBox="1"/>
          <p:nvPr/>
        </p:nvSpPr>
        <p:spPr>
          <a:xfrm>
            <a:off x="616962" y="3313705"/>
            <a:ext cx="4311297" cy="12879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Best accuracy (86%)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Highest precision (65%)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703020202090204" pitchFamily="34" charset="0"/>
              </a:rPr>
              <a:t>Most reliable predictions overall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1777B2-54C1-E519-83D1-45C2D55D5D55}"/>
              </a:ext>
            </a:extLst>
          </p:cNvPr>
          <p:cNvCxnSpPr>
            <a:cxnSpLocks/>
          </p:cNvCxnSpPr>
          <p:nvPr/>
        </p:nvCxnSpPr>
        <p:spPr>
          <a:xfrm>
            <a:off x="616962" y="776257"/>
            <a:ext cx="1095807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955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372ED-E315-75B0-DF10-DB942778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95CE3-51A2-E7C8-ECF5-145108C4B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kern="1200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Model Performance Comparison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9A06406-CC78-545B-A05E-223C1F7A8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760" y="1215141"/>
            <a:ext cx="6894576" cy="5527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</a:rPr>
              <a:t>Summary of Metrics (Attrition = Yes)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8726E4D-B03D-AA18-3483-E3F7DBB87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976956"/>
              </p:ext>
            </p:extLst>
          </p:nvPr>
        </p:nvGraphicFramePr>
        <p:xfrm>
          <a:off x="4666485" y="1914144"/>
          <a:ext cx="6894579" cy="330939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16972">
                  <a:extLst>
                    <a:ext uri="{9D8B030D-6E8A-4147-A177-3AD203B41FA5}">
                      <a16:colId xmlns:a16="http://schemas.microsoft.com/office/drawing/2014/main" val="95829498"/>
                    </a:ext>
                  </a:extLst>
                </a:gridCol>
                <a:gridCol w="1568702">
                  <a:extLst>
                    <a:ext uri="{9D8B030D-6E8A-4147-A177-3AD203B41FA5}">
                      <a16:colId xmlns:a16="http://schemas.microsoft.com/office/drawing/2014/main" val="1598902206"/>
                    </a:ext>
                  </a:extLst>
                </a:gridCol>
                <a:gridCol w="1568702">
                  <a:extLst>
                    <a:ext uri="{9D8B030D-6E8A-4147-A177-3AD203B41FA5}">
                      <a16:colId xmlns:a16="http://schemas.microsoft.com/office/drawing/2014/main" val="1162714455"/>
                    </a:ext>
                  </a:extLst>
                </a:gridCol>
                <a:gridCol w="1153545">
                  <a:extLst>
                    <a:ext uri="{9D8B030D-6E8A-4147-A177-3AD203B41FA5}">
                      <a16:colId xmlns:a16="http://schemas.microsoft.com/office/drawing/2014/main" val="2801968657"/>
                    </a:ext>
                  </a:extLst>
                </a:gridCol>
                <a:gridCol w="886658">
                  <a:extLst>
                    <a:ext uri="{9D8B030D-6E8A-4147-A177-3AD203B41FA5}">
                      <a16:colId xmlns:a16="http://schemas.microsoft.com/office/drawing/2014/main" val="3947188081"/>
                    </a:ext>
                  </a:extLst>
                </a:gridCol>
              </a:tblGrid>
              <a:tr h="469721">
                <a:tc>
                  <a:txBody>
                    <a:bodyPr/>
                    <a:lstStyle/>
                    <a:p>
                      <a:r>
                        <a:rPr lang="en-US" sz="2100" b="1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06755" marR="106755" marT="53377" marB="53377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1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106755" marR="106755" marT="53377" marB="53377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1">
                          <a:solidFill>
                            <a:schemeClr val="bg1"/>
                          </a:solidFill>
                        </a:rPr>
                        <a:t>Precision</a:t>
                      </a:r>
                    </a:p>
                  </a:txBody>
                  <a:tcPr marL="106755" marR="106755" marT="53377" marB="53377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1">
                          <a:solidFill>
                            <a:schemeClr val="bg1"/>
                          </a:solidFill>
                        </a:rPr>
                        <a:t>Recall</a:t>
                      </a:r>
                    </a:p>
                  </a:txBody>
                  <a:tcPr marL="106755" marR="106755" marT="53377" marB="53377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b="1">
                          <a:solidFill>
                            <a:schemeClr val="bg1"/>
                          </a:solidFill>
                        </a:rPr>
                        <a:t>F1</a:t>
                      </a:r>
                    </a:p>
                  </a:txBody>
                  <a:tcPr marL="106755" marR="106755" marT="53377" marB="53377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276417"/>
                  </a:ext>
                </a:extLst>
              </a:tr>
              <a:tr h="789985">
                <a:tc>
                  <a:txBody>
                    <a:bodyPr/>
                    <a:lstStyle/>
                    <a:p>
                      <a:r>
                        <a:rPr lang="en-US" sz="2100"/>
                        <a:t>Logistic Regression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0.77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0.37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 b="1"/>
                        <a:t>0.60</a:t>
                      </a:r>
                      <a:endParaRPr lang="en-US" sz="2100"/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0.46</a:t>
                      </a:r>
                    </a:p>
                  </a:txBody>
                  <a:tcPr marL="106755" marR="106755" marT="53377" marB="53377" anchor="ctr"/>
                </a:tc>
                <a:extLst>
                  <a:ext uri="{0D108BD9-81ED-4DB2-BD59-A6C34878D82A}">
                    <a16:rowId xmlns:a16="http://schemas.microsoft.com/office/drawing/2014/main" val="4137523247"/>
                  </a:ext>
                </a:extLst>
              </a:tr>
              <a:tr h="789985">
                <a:tc>
                  <a:txBody>
                    <a:bodyPr/>
                    <a:lstStyle/>
                    <a:p>
                      <a:r>
                        <a:rPr lang="en-US" sz="2100"/>
                        <a:t>Decision Tree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0.81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0.41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0.40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0.40</a:t>
                      </a:r>
                    </a:p>
                  </a:txBody>
                  <a:tcPr marL="106755" marR="106755" marT="53377" marB="53377" anchor="ctr"/>
                </a:tc>
                <a:extLst>
                  <a:ext uri="{0D108BD9-81ED-4DB2-BD59-A6C34878D82A}">
                    <a16:rowId xmlns:a16="http://schemas.microsoft.com/office/drawing/2014/main" val="1965015655"/>
                  </a:ext>
                </a:extLst>
              </a:tr>
              <a:tr h="789985">
                <a:tc>
                  <a:txBody>
                    <a:bodyPr/>
                    <a:lstStyle/>
                    <a:p>
                      <a:r>
                        <a:rPr lang="en-US" sz="2100"/>
                        <a:t>Random Forest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0.84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0.50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0.30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0.37</a:t>
                      </a:r>
                    </a:p>
                  </a:txBody>
                  <a:tcPr marL="106755" marR="106755" marT="53377" marB="53377" anchor="ctr"/>
                </a:tc>
                <a:extLst>
                  <a:ext uri="{0D108BD9-81ED-4DB2-BD59-A6C34878D82A}">
                    <a16:rowId xmlns:a16="http://schemas.microsoft.com/office/drawing/2014/main" val="2760874476"/>
                  </a:ext>
                </a:extLst>
              </a:tr>
              <a:tr h="469721">
                <a:tc>
                  <a:txBody>
                    <a:bodyPr/>
                    <a:lstStyle/>
                    <a:p>
                      <a:r>
                        <a:rPr lang="en-US" sz="2100" err="1"/>
                        <a:t>XGBoost</a:t>
                      </a:r>
                      <a:endParaRPr lang="en-US" sz="2100"/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 b="1"/>
                        <a:t>0.86</a:t>
                      </a:r>
                      <a:endParaRPr lang="en-US" sz="2100"/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 b="1"/>
                        <a:t>0.65</a:t>
                      </a:r>
                      <a:endParaRPr lang="en-US" sz="2100"/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/>
                        <a:t>0.28</a:t>
                      </a:r>
                    </a:p>
                  </a:txBody>
                  <a:tcPr marL="106755" marR="106755" marT="53377" marB="53377" anchor="ctr"/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0.39</a:t>
                      </a:r>
                    </a:p>
                  </a:txBody>
                  <a:tcPr marL="106755" marR="106755" marT="53377" marB="53377" anchor="ctr"/>
                </a:tc>
                <a:extLst>
                  <a:ext uri="{0D108BD9-81ED-4DB2-BD59-A6C34878D82A}">
                    <a16:rowId xmlns:a16="http://schemas.microsoft.com/office/drawing/2014/main" val="2500961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511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6EAFBB7C-BA65-4034-8F52-32E6C514E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1555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Freeform: Shape 2059">
            <a:extLst>
              <a:ext uri="{FF2B5EF4-FFF2-40B4-BE49-F238E27FC236}">
                <a16:creationId xmlns:a16="http://schemas.microsoft.com/office/drawing/2014/main" id="{B9D56ACA-1E9F-4685-8853-D3A4777AC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55"/>
            <a:ext cx="12192000" cy="6858000"/>
          </a:xfrm>
          <a:custGeom>
            <a:avLst/>
            <a:gdLst>
              <a:gd name="connsiteX0" fmla="*/ 3847754 w 12192000"/>
              <a:gd name="connsiteY0" fmla="*/ 5 h 6858000"/>
              <a:gd name="connsiteX1" fmla="*/ 3847754 w 12192000"/>
              <a:gd name="connsiteY1" fmla="*/ 4197373 h 6858000"/>
              <a:gd name="connsiteX2" fmla="*/ 4423416 w 12192000"/>
              <a:gd name="connsiteY2" fmla="*/ 4197373 h 6858000"/>
              <a:gd name="connsiteX3" fmla="*/ 4430942 w 12192000"/>
              <a:gd name="connsiteY3" fmla="*/ 4172627 h 6858000"/>
              <a:gd name="connsiteX4" fmla="*/ 4570893 w 12192000"/>
              <a:gd name="connsiteY4" fmla="*/ 4067350 h 6858000"/>
              <a:gd name="connsiteX5" fmla="*/ 5082240 w 12192000"/>
              <a:gd name="connsiteY5" fmla="*/ 4000508 h 6858000"/>
              <a:gd name="connsiteX6" fmla="*/ 5767374 w 12192000"/>
              <a:gd name="connsiteY6" fmla="*/ 3903586 h 6858000"/>
              <a:gd name="connsiteX7" fmla="*/ 6455849 w 12192000"/>
              <a:gd name="connsiteY7" fmla="*/ 3820032 h 6858000"/>
              <a:gd name="connsiteX8" fmla="*/ 7144325 w 12192000"/>
              <a:gd name="connsiteY8" fmla="*/ 3820032 h 6858000"/>
              <a:gd name="connsiteX9" fmla="*/ 7341512 w 12192000"/>
              <a:gd name="connsiteY9" fmla="*/ 3826717 h 6858000"/>
              <a:gd name="connsiteX10" fmla="*/ 7344854 w 12192000"/>
              <a:gd name="connsiteY10" fmla="*/ 3826717 h 6858000"/>
              <a:gd name="connsiteX11" fmla="*/ 7534641 w 12192000"/>
              <a:gd name="connsiteY11" fmla="*/ 3832816 h 6858000"/>
              <a:gd name="connsiteX12" fmla="*/ 7534641 w 12192000"/>
              <a:gd name="connsiteY12" fmla="*/ 5 h 6858000"/>
              <a:gd name="connsiteX13" fmla="*/ 3728859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1 h 6858000"/>
              <a:gd name="connsiteX16" fmla="*/ 7653538 w 12192000"/>
              <a:gd name="connsiteY16" fmla="*/ 1 h 6858000"/>
              <a:gd name="connsiteX17" fmla="*/ 7653538 w 12192000"/>
              <a:gd name="connsiteY17" fmla="*/ 3836633 h 6858000"/>
              <a:gd name="connsiteX18" fmla="*/ 7773901 w 12192000"/>
              <a:gd name="connsiteY18" fmla="*/ 3840500 h 6858000"/>
              <a:gd name="connsiteX19" fmla="*/ 8200440 w 12192000"/>
              <a:gd name="connsiteY19" fmla="*/ 3856793 h 6858000"/>
              <a:gd name="connsiteX20" fmla="*/ 8517940 w 12192000"/>
              <a:gd name="connsiteY20" fmla="*/ 3860135 h 6858000"/>
              <a:gd name="connsiteX21" fmla="*/ 9206418 w 12192000"/>
              <a:gd name="connsiteY21" fmla="*/ 3863477 h 6858000"/>
              <a:gd name="connsiteX22" fmla="*/ 9891553 w 12192000"/>
              <a:gd name="connsiteY22" fmla="*/ 3850108 h 6858000"/>
              <a:gd name="connsiteX23" fmla="*/ 10586714 w 12192000"/>
              <a:gd name="connsiteY23" fmla="*/ 3810003 h 6858000"/>
              <a:gd name="connsiteX24" fmla="*/ 11271848 w 12192000"/>
              <a:gd name="connsiteY24" fmla="*/ 3756529 h 6858000"/>
              <a:gd name="connsiteX25" fmla="*/ 11709667 w 12192000"/>
              <a:gd name="connsiteY25" fmla="*/ 3636212 h 6858000"/>
              <a:gd name="connsiteX26" fmla="*/ 12184248 w 12192000"/>
              <a:gd name="connsiteY26" fmla="*/ 3429001 h 6858000"/>
              <a:gd name="connsiteX27" fmla="*/ 12192000 w 12192000"/>
              <a:gd name="connsiteY27" fmla="*/ 3437173 h 6858000"/>
              <a:gd name="connsiteX28" fmla="*/ 12192000 w 12192000"/>
              <a:gd name="connsiteY28" fmla="*/ 6858000 h 6858000"/>
              <a:gd name="connsiteX29" fmla="*/ 0 w 12192000"/>
              <a:gd name="connsiteY29" fmla="*/ 6858000 h 6858000"/>
              <a:gd name="connsiteX30" fmla="*/ 0 w 12192000"/>
              <a:gd name="connsiteY30" fmla="*/ 6857989 h 6858000"/>
              <a:gd name="connsiteX31" fmla="*/ 6542821 w 12192000"/>
              <a:gd name="connsiteY31" fmla="*/ 6857989 h 6858000"/>
              <a:gd name="connsiteX32" fmla="*/ 6553813 w 12192000"/>
              <a:gd name="connsiteY32" fmla="*/ 6856417 h 6858000"/>
              <a:gd name="connsiteX33" fmla="*/ 6836849 w 12192000"/>
              <a:gd name="connsiteY33" fmla="*/ 6797865 h 6858000"/>
              <a:gd name="connsiteX34" fmla="*/ 5951187 w 12192000"/>
              <a:gd name="connsiteY34" fmla="*/ 6644126 h 6858000"/>
              <a:gd name="connsiteX35" fmla="*/ 6001320 w 12192000"/>
              <a:gd name="connsiteY35" fmla="*/ 6624073 h 6858000"/>
              <a:gd name="connsiteX36" fmla="*/ 5904397 w 12192000"/>
              <a:gd name="connsiteY36" fmla="*/ 6543863 h 6858000"/>
              <a:gd name="connsiteX37" fmla="*/ 5506684 w 12192000"/>
              <a:gd name="connsiteY37" fmla="*/ 6416862 h 6858000"/>
              <a:gd name="connsiteX38" fmla="*/ 6001320 w 12192000"/>
              <a:gd name="connsiteY38" fmla="*/ 6202967 h 6858000"/>
              <a:gd name="connsiteX39" fmla="*/ 5443186 w 12192000"/>
              <a:gd name="connsiteY39" fmla="*/ 5912202 h 6858000"/>
              <a:gd name="connsiteX40" fmla="*/ 5159104 w 12192000"/>
              <a:gd name="connsiteY40" fmla="*/ 5842017 h 6858000"/>
              <a:gd name="connsiteX41" fmla="*/ 6094899 w 12192000"/>
              <a:gd name="connsiteY41" fmla="*/ 5477726 h 6858000"/>
              <a:gd name="connsiteX42" fmla="*/ 4577576 w 12192000"/>
              <a:gd name="connsiteY42" fmla="*/ 5297251 h 6858000"/>
              <a:gd name="connsiteX43" fmla="*/ 4701234 w 12192000"/>
              <a:gd name="connsiteY43" fmla="*/ 5223724 h 6858000"/>
              <a:gd name="connsiteX44" fmla="*/ 5643712 w 12192000"/>
              <a:gd name="connsiteY44" fmla="*/ 5243777 h 6858000"/>
              <a:gd name="connsiteX45" fmla="*/ 5800793 w 12192000"/>
              <a:gd name="connsiteY45" fmla="*/ 5186961 h 6858000"/>
              <a:gd name="connsiteX46" fmla="*/ 5643712 w 12192000"/>
              <a:gd name="connsiteY46" fmla="*/ 5096724 h 6858000"/>
              <a:gd name="connsiteX47" fmla="*/ 5032104 w 12192000"/>
              <a:gd name="connsiteY47" fmla="*/ 5029881 h 6858000"/>
              <a:gd name="connsiteX48" fmla="*/ 4871682 w 12192000"/>
              <a:gd name="connsiteY48" fmla="*/ 4879485 h 6858000"/>
              <a:gd name="connsiteX49" fmla="*/ 4600971 w 12192000"/>
              <a:gd name="connsiteY49" fmla="*/ 4705695 h 6858000"/>
              <a:gd name="connsiteX50" fmla="*/ 4788128 w 12192000"/>
              <a:gd name="connsiteY50" fmla="*/ 4561984 h 6858000"/>
              <a:gd name="connsiteX51" fmla="*/ 4483995 w 12192000"/>
              <a:gd name="connsiteY51" fmla="*/ 4348088 h 6858000"/>
              <a:gd name="connsiteX52" fmla="*/ 4460097 w 12192000"/>
              <a:gd name="connsiteY52" fmla="*/ 4316252 h 6858000"/>
              <a:gd name="connsiteX53" fmla="*/ 0 w 12192000"/>
              <a:gd name="connsiteY53" fmla="*/ 4316252 h 6858000"/>
              <a:gd name="connsiteX54" fmla="*/ 0 w 12192000"/>
              <a:gd name="connsiteY54" fmla="*/ 4197368 h 6858000"/>
              <a:gd name="connsiteX55" fmla="*/ 3728859 w 12192000"/>
              <a:gd name="connsiteY55" fmla="*/ 419736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6858000">
                <a:moveTo>
                  <a:pt x="3847754" y="5"/>
                </a:moveTo>
                <a:lnTo>
                  <a:pt x="3847754" y="4197373"/>
                </a:lnTo>
                <a:lnTo>
                  <a:pt x="4423416" y="4197373"/>
                </a:lnTo>
                <a:lnTo>
                  <a:pt x="4430942" y="4172627"/>
                </a:lnTo>
                <a:cubicBezTo>
                  <a:pt x="4453920" y="4128344"/>
                  <a:pt x="4509064" y="4095758"/>
                  <a:pt x="4570893" y="4067350"/>
                </a:cubicBezTo>
                <a:cubicBezTo>
                  <a:pt x="4731315" y="3997165"/>
                  <a:pt x="4908447" y="4013876"/>
                  <a:pt x="5082240" y="4000508"/>
                </a:cubicBezTo>
                <a:cubicBezTo>
                  <a:pt x="5312846" y="3970428"/>
                  <a:pt x="5533424" y="3900244"/>
                  <a:pt x="5767374" y="3903586"/>
                </a:cubicBezTo>
                <a:cubicBezTo>
                  <a:pt x="5987953" y="3833401"/>
                  <a:pt x="6231927" y="3910270"/>
                  <a:pt x="6455849" y="3820032"/>
                </a:cubicBezTo>
                <a:cubicBezTo>
                  <a:pt x="6683114" y="3820032"/>
                  <a:pt x="6913720" y="3820032"/>
                  <a:pt x="7144325" y="3820032"/>
                </a:cubicBezTo>
                <a:cubicBezTo>
                  <a:pt x="7211170" y="3823375"/>
                  <a:pt x="7274668" y="3823375"/>
                  <a:pt x="7341512" y="3826717"/>
                </a:cubicBezTo>
                <a:cubicBezTo>
                  <a:pt x="7341512" y="3826717"/>
                  <a:pt x="7344854" y="3826717"/>
                  <a:pt x="7344854" y="3826717"/>
                </a:cubicBezTo>
                <a:lnTo>
                  <a:pt x="7534641" y="3832816"/>
                </a:lnTo>
                <a:lnTo>
                  <a:pt x="7534641" y="5"/>
                </a:lnTo>
                <a:close/>
                <a:moveTo>
                  <a:pt x="3728859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7653538" y="1"/>
                </a:lnTo>
                <a:lnTo>
                  <a:pt x="7653538" y="3836633"/>
                </a:lnTo>
                <a:lnTo>
                  <a:pt x="7773901" y="3840500"/>
                </a:lnTo>
                <a:cubicBezTo>
                  <a:pt x="7916359" y="3845096"/>
                  <a:pt x="8058399" y="3850109"/>
                  <a:pt x="8200440" y="3856793"/>
                </a:cubicBezTo>
                <a:cubicBezTo>
                  <a:pt x="8307387" y="3856793"/>
                  <a:pt x="8410993" y="3860135"/>
                  <a:pt x="8517940" y="3860135"/>
                </a:cubicBezTo>
                <a:cubicBezTo>
                  <a:pt x="8745205" y="3876845"/>
                  <a:pt x="8975812" y="3886871"/>
                  <a:pt x="9206418" y="3863477"/>
                </a:cubicBezTo>
                <a:cubicBezTo>
                  <a:pt x="9437024" y="3883530"/>
                  <a:pt x="9660946" y="3870162"/>
                  <a:pt x="9891553" y="3850108"/>
                </a:cubicBezTo>
                <a:cubicBezTo>
                  <a:pt x="10125500" y="3873504"/>
                  <a:pt x="10356108" y="3840082"/>
                  <a:pt x="10586714" y="3810003"/>
                </a:cubicBezTo>
                <a:cubicBezTo>
                  <a:pt x="10817321" y="3823372"/>
                  <a:pt x="11047927" y="3823372"/>
                  <a:pt x="11271848" y="3756529"/>
                </a:cubicBezTo>
                <a:cubicBezTo>
                  <a:pt x="11442298" y="3830056"/>
                  <a:pt x="11525851" y="3589423"/>
                  <a:pt x="11709667" y="3636212"/>
                </a:cubicBezTo>
                <a:cubicBezTo>
                  <a:pt x="11893484" y="3686345"/>
                  <a:pt x="12023827" y="3495843"/>
                  <a:pt x="12184248" y="3429001"/>
                </a:cubicBezTo>
                <a:lnTo>
                  <a:pt x="12192000" y="3437173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57989"/>
                </a:lnTo>
                <a:lnTo>
                  <a:pt x="6542821" y="6857989"/>
                </a:lnTo>
                <a:lnTo>
                  <a:pt x="6553813" y="6856417"/>
                </a:lnTo>
                <a:cubicBezTo>
                  <a:pt x="6636844" y="6844080"/>
                  <a:pt x="6761651" y="6822931"/>
                  <a:pt x="6836849" y="6797865"/>
                </a:cubicBezTo>
                <a:cubicBezTo>
                  <a:pt x="6663059" y="6794522"/>
                  <a:pt x="5977924" y="6667523"/>
                  <a:pt x="5951187" y="6644126"/>
                </a:cubicBezTo>
                <a:cubicBezTo>
                  <a:pt x="5964556" y="6637442"/>
                  <a:pt x="5984611" y="6630759"/>
                  <a:pt x="6001320" y="6624073"/>
                </a:cubicBezTo>
                <a:cubicBezTo>
                  <a:pt x="5964556" y="6604022"/>
                  <a:pt x="5934477" y="6580627"/>
                  <a:pt x="5904397" y="6543863"/>
                </a:cubicBezTo>
                <a:cubicBezTo>
                  <a:pt x="5807476" y="6420205"/>
                  <a:pt x="5643712" y="6463653"/>
                  <a:pt x="5506684" y="6416862"/>
                </a:cubicBezTo>
                <a:cubicBezTo>
                  <a:pt x="5593580" y="6156177"/>
                  <a:pt x="5824187" y="6253098"/>
                  <a:pt x="6001320" y="6202967"/>
                </a:cubicBezTo>
                <a:cubicBezTo>
                  <a:pt x="5536764" y="6049228"/>
                  <a:pt x="5627001" y="5969017"/>
                  <a:pt x="5443186" y="5912202"/>
                </a:cubicBezTo>
                <a:cubicBezTo>
                  <a:pt x="5212579" y="5842017"/>
                  <a:pt x="5159104" y="5842017"/>
                  <a:pt x="5159104" y="5842017"/>
                </a:cubicBezTo>
                <a:cubicBezTo>
                  <a:pt x="5429816" y="5628122"/>
                  <a:pt x="5754003" y="5858729"/>
                  <a:pt x="6094899" y="5477726"/>
                </a:cubicBezTo>
                <a:cubicBezTo>
                  <a:pt x="5767371" y="5424253"/>
                  <a:pt x="4788128" y="5397515"/>
                  <a:pt x="4577576" y="5297251"/>
                </a:cubicBezTo>
                <a:cubicBezTo>
                  <a:pt x="4657786" y="5334014"/>
                  <a:pt x="4664471" y="5223724"/>
                  <a:pt x="4701234" y="5223724"/>
                </a:cubicBezTo>
                <a:cubicBezTo>
                  <a:pt x="5012051" y="5220383"/>
                  <a:pt x="5329552" y="5283884"/>
                  <a:pt x="5643712" y="5243777"/>
                </a:cubicBezTo>
                <a:cubicBezTo>
                  <a:pt x="5700528" y="5240436"/>
                  <a:pt x="5790766" y="5270513"/>
                  <a:pt x="5800793" y="5186961"/>
                </a:cubicBezTo>
                <a:cubicBezTo>
                  <a:pt x="5810818" y="5083355"/>
                  <a:pt x="5693843" y="5106750"/>
                  <a:pt x="5643712" y="5096724"/>
                </a:cubicBezTo>
                <a:cubicBezTo>
                  <a:pt x="5439842" y="5063302"/>
                  <a:pt x="5239316" y="5049935"/>
                  <a:pt x="5032104" y="5029881"/>
                </a:cubicBezTo>
                <a:cubicBezTo>
                  <a:pt x="4945209" y="5019854"/>
                  <a:pt x="4838261" y="5039907"/>
                  <a:pt x="4871682" y="4879485"/>
                </a:cubicBezTo>
                <a:cubicBezTo>
                  <a:pt x="4844944" y="4725749"/>
                  <a:pt x="4684523" y="4779222"/>
                  <a:pt x="4600971" y="4705695"/>
                </a:cubicBezTo>
                <a:cubicBezTo>
                  <a:pt x="4641075" y="4618800"/>
                  <a:pt x="4754708" y="4678959"/>
                  <a:pt x="4788128" y="4561984"/>
                </a:cubicBezTo>
                <a:cubicBezTo>
                  <a:pt x="4627707" y="4598747"/>
                  <a:pt x="4644418" y="4344747"/>
                  <a:pt x="4483995" y="4348088"/>
                </a:cubicBezTo>
                <a:lnTo>
                  <a:pt x="4460097" y="4316252"/>
                </a:lnTo>
                <a:lnTo>
                  <a:pt x="0" y="4316252"/>
                </a:lnTo>
                <a:lnTo>
                  <a:pt x="0" y="4197368"/>
                </a:lnTo>
                <a:lnTo>
                  <a:pt x="3728859" y="4197368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8F7B2F6-95A9-4F8B-BB54-E90D107A3CAE}"/>
              </a:ext>
            </a:extLst>
          </p:cNvPr>
          <p:cNvSpPr txBox="1">
            <a:spLocks/>
          </p:cNvSpPr>
          <p:nvPr/>
        </p:nvSpPr>
        <p:spPr>
          <a:xfrm>
            <a:off x="7749055" y="4329096"/>
            <a:ext cx="3504569" cy="21628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Trebuchet MS" panose="020B0703020202090204" pitchFamily="34" charset="0"/>
              </a:rPr>
              <a:t>Visual Model Performance Comparison</a:t>
            </a:r>
          </a:p>
        </p:txBody>
      </p:sp>
      <p:pic>
        <p:nvPicPr>
          <p:cNvPr id="2053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399DA50-21F8-46D4-9925-A4B3B5971A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35" r="37548"/>
          <a:stretch/>
        </p:blipFill>
        <p:spPr bwMode="auto">
          <a:xfrm>
            <a:off x="160085" y="1119418"/>
            <a:ext cx="3451296" cy="186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D9CEC786-B3C6-DC52-D2A9-3B65D16E71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26" r="38528"/>
          <a:stretch/>
        </p:blipFill>
        <p:spPr bwMode="auto">
          <a:xfrm>
            <a:off x="4123721" y="1159465"/>
            <a:ext cx="3305114" cy="177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7AB12F67-4F5A-6B47-1BE5-2616ED08CB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58" r="39205"/>
          <a:stretch/>
        </p:blipFill>
        <p:spPr bwMode="auto">
          <a:xfrm>
            <a:off x="8055085" y="1052172"/>
            <a:ext cx="3504569" cy="188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AC54890-4434-85E5-6B72-E57ECC5454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64" r="39076"/>
          <a:stretch/>
        </p:blipFill>
        <p:spPr bwMode="auto">
          <a:xfrm>
            <a:off x="342536" y="4573754"/>
            <a:ext cx="3537200" cy="1920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C643EA27-9015-D27C-0B5A-9EDE4CFD7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3894"/>
            <a:ext cx="4949900" cy="93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EEDF9F1-2287-3408-50AC-C0355472A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844" y="3397961"/>
            <a:ext cx="4949900" cy="93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DD40F0A-779E-3956-D45F-1FD843879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844" y="6230061"/>
            <a:ext cx="4949900" cy="93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3E54A97-F489-588D-1AB4-BD26F0238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2594"/>
            <a:ext cx="4949900" cy="93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F65C807F-004E-939A-7BC3-27B9F62EA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806594"/>
            <a:ext cx="4949900" cy="93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97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97">
            <a:extLst>
              <a:ext uri="{FF2B5EF4-FFF2-40B4-BE49-F238E27FC236}">
                <a16:creationId xmlns:a16="http://schemas.microsoft.com/office/drawing/2014/main" id="{B4C4EC46-EC6F-A0A9-36BF-531F5C82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5" y="-5"/>
            <a:ext cx="5197641" cy="6857997"/>
          </a:xfrm>
          <a:prstGeom prst="rect">
            <a:avLst/>
          </a:prstGeom>
          <a:gradFill>
            <a:gsLst>
              <a:gs pos="0">
                <a:srgbClr val="215F9A"/>
              </a:gs>
              <a:gs pos="97899">
                <a:schemeClr val="accent3">
                  <a:lumMod val="60000"/>
                  <a:lumOff val="40000"/>
                </a:schemeClr>
              </a:gs>
              <a:gs pos="74000">
                <a:schemeClr val="accent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F13763C0-6092-3B3C-822A-21E174E3A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" y="0"/>
            <a:ext cx="4608950" cy="6872675"/>
          </a:xfrm>
          <a:prstGeom prst="rect">
            <a:avLst/>
          </a:prstGeom>
          <a:gradFill flip="none" rotWithShape="1">
            <a:gsLst>
              <a:gs pos="0">
                <a:srgbClr val="163E64">
                  <a:alpha val="59000"/>
                </a:srgbClr>
              </a:gs>
              <a:gs pos="69000">
                <a:srgbClr val="215F9A">
                  <a:alpha val="0"/>
                </a:srgb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26E82DC-E8B9-2C02-68E1-6BF7F468725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r="2208"/>
          <a:stretch>
            <a:fillRect/>
          </a:stretch>
        </p:blipFill>
        <p:spPr>
          <a:xfrm>
            <a:off x="20" y="-14687"/>
            <a:ext cx="5197615" cy="6857998"/>
          </a:xfrm>
          <a:prstGeom prst="rect">
            <a:avLst/>
          </a:prstGeom>
        </p:spPr>
      </p:pic>
      <p:sp>
        <p:nvSpPr>
          <p:cNvPr id="202" name="Rectangle 201">
            <a:extLst>
              <a:ext uri="{FF2B5EF4-FFF2-40B4-BE49-F238E27FC236}">
                <a16:creationId xmlns:a16="http://schemas.microsoft.com/office/drawing/2014/main" id="{D4ECF21D-729A-005C-E880-CA278A4F4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86570"/>
            <a:ext cx="5197642" cy="4486105"/>
          </a:xfrm>
          <a:prstGeom prst="rect">
            <a:avLst/>
          </a:prstGeom>
          <a:gradFill flip="none" rotWithShape="1">
            <a:gsLst>
              <a:gs pos="11000">
                <a:schemeClr val="accent2"/>
              </a:gs>
              <a:gs pos="71000">
                <a:schemeClr val="accent2">
                  <a:alpha val="0"/>
                </a:schemeClr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0BEDAEA2-865D-E67C-A774-2FD2DD4A2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13227"/>
            <a:ext cx="5197642" cy="4259448"/>
          </a:xfrm>
          <a:prstGeom prst="rect">
            <a:avLst/>
          </a:prstGeom>
          <a:gradFill flip="none" rotWithShape="1">
            <a:gsLst>
              <a:gs pos="2101">
                <a:schemeClr val="accent5">
                  <a:lumMod val="75000"/>
                </a:schemeClr>
              </a:gs>
              <a:gs pos="31000">
                <a:schemeClr val="accent5">
                  <a:alpha val="66000"/>
                </a:schemeClr>
              </a:gs>
              <a:gs pos="71000">
                <a:schemeClr val="accent2">
                  <a:alpha val="0"/>
                </a:schemeClr>
              </a:gs>
            </a:gsLst>
            <a:lin ang="17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AE182-4F06-B872-EE6E-DF6524FA8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815" y="4021743"/>
            <a:ext cx="3999542" cy="2235074"/>
          </a:xfrm>
        </p:spPr>
        <p:txBody>
          <a:bodyPr anchor="b">
            <a:normAutofit/>
          </a:bodyPr>
          <a:lstStyle/>
          <a:p>
            <a:r>
              <a:rPr lang="en-US" sz="3700" b="1" dirty="0">
                <a:solidFill>
                  <a:srgbClr val="FFFFFF"/>
                </a:solidFill>
                <a:latin typeface="Trebuchet MS" panose="020B0703020202090204" pitchFamily="34" charset="0"/>
              </a:rPr>
              <a:t>Best Model &amp; Feature Importance</a:t>
            </a:r>
            <a:br>
              <a:rPr lang="en-US" sz="3700" b="1" dirty="0">
                <a:solidFill>
                  <a:srgbClr val="FFFFFF"/>
                </a:solidFill>
                <a:latin typeface="Trebuchet MS" panose="020B0703020202090204" pitchFamily="34" charset="0"/>
              </a:rPr>
            </a:br>
            <a:endParaRPr lang="en-US" sz="3700" dirty="0">
              <a:solidFill>
                <a:srgbClr val="FFFFFF"/>
              </a:solidFill>
              <a:latin typeface="Trebuchet MS" panose="020B070302020209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B35B-3694-0924-EA2C-0E30D6DD9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4092" y="923680"/>
            <a:ext cx="5197637" cy="5169623"/>
          </a:xfrm>
        </p:spPr>
        <p:txBody>
          <a:bodyPr anchor="t">
            <a:normAutofit/>
          </a:bodyPr>
          <a:lstStyle/>
          <a:p>
            <a:r>
              <a:rPr lang="en-US" sz="2000" b="1" dirty="0">
                <a:latin typeface="Trebuchet MS" panose="020B0703020202090204" pitchFamily="34" charset="0"/>
              </a:rPr>
              <a:t>Best Performing Model: </a:t>
            </a:r>
            <a:r>
              <a:rPr lang="en-US" sz="2000" b="1" dirty="0" err="1">
                <a:latin typeface="Trebuchet MS" panose="020B0703020202090204" pitchFamily="34" charset="0"/>
              </a:rPr>
              <a:t>XGBoost</a:t>
            </a:r>
            <a:endParaRPr lang="en-US" sz="2000" b="1" dirty="0">
              <a:latin typeface="Trebuchet MS" panose="020B070302020209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Trebuchet MS" panose="020B0703020202090204" pitchFamily="34" charset="0"/>
              </a:rPr>
              <a:t>	Highest accuracy (86%)</a:t>
            </a:r>
          </a:p>
          <a:p>
            <a:pPr marL="0" indent="0">
              <a:buNone/>
            </a:pPr>
            <a:r>
              <a:rPr lang="en-US" sz="2000" dirty="0">
                <a:latin typeface="Trebuchet MS" panose="020B0703020202090204" pitchFamily="34" charset="0"/>
              </a:rPr>
              <a:t>	Best precision (65%)</a:t>
            </a:r>
          </a:p>
          <a:p>
            <a:pPr marL="0" indent="0">
              <a:buNone/>
            </a:pPr>
            <a:r>
              <a:rPr lang="en-US" sz="2000" dirty="0">
                <a:latin typeface="Trebuchet MS" panose="020B0703020202090204" pitchFamily="34" charset="0"/>
              </a:rPr>
              <a:t>	Strong generalization on test data</a:t>
            </a:r>
          </a:p>
          <a:p>
            <a:pPr marL="0" indent="0">
              <a:buNone/>
            </a:pPr>
            <a:endParaRPr lang="en-US" sz="2000" dirty="0">
              <a:latin typeface="Trebuchet MS" panose="020B0703020202090204" pitchFamily="34" charset="0"/>
            </a:endParaRPr>
          </a:p>
          <a:p>
            <a:r>
              <a:rPr lang="en-US" sz="2000" b="1" dirty="0">
                <a:latin typeface="Trebuchet MS" panose="020B0703020202090204" pitchFamily="34" charset="0"/>
              </a:rPr>
              <a:t>Most Important Features</a:t>
            </a:r>
          </a:p>
          <a:p>
            <a:pPr marL="0" indent="0">
              <a:buNone/>
            </a:pPr>
            <a:r>
              <a:rPr lang="en-US" sz="2000" dirty="0">
                <a:latin typeface="Trebuchet MS" panose="020B0703020202090204" pitchFamily="34" charset="0"/>
              </a:rPr>
              <a:t>	</a:t>
            </a:r>
            <a:r>
              <a:rPr lang="en-US" sz="2000" dirty="0" err="1">
                <a:latin typeface="Trebuchet MS" panose="020B0703020202090204" pitchFamily="34" charset="0"/>
              </a:rPr>
              <a:t>OverTime</a:t>
            </a:r>
            <a:endParaRPr lang="en-US" sz="2000" dirty="0">
              <a:latin typeface="Trebuchet MS" panose="020B070302020209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Trebuchet MS" panose="020B0703020202090204" pitchFamily="34" charset="0"/>
              </a:rPr>
              <a:t>	</a:t>
            </a:r>
            <a:r>
              <a:rPr lang="en-US" sz="2000" dirty="0" err="1">
                <a:latin typeface="Trebuchet MS" panose="020B0703020202090204" pitchFamily="34" charset="0"/>
              </a:rPr>
              <a:t>YearsWithCurrManager</a:t>
            </a:r>
            <a:endParaRPr lang="en-US" sz="2000" dirty="0">
              <a:latin typeface="Trebuchet MS" panose="020B070302020209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Trebuchet MS" panose="020B0703020202090204" pitchFamily="34" charset="0"/>
              </a:rPr>
              <a:t>	</a:t>
            </a:r>
            <a:r>
              <a:rPr lang="en-US" sz="2000" dirty="0" err="1">
                <a:latin typeface="Trebuchet MS" panose="020B0703020202090204" pitchFamily="34" charset="0"/>
              </a:rPr>
              <a:t>JobLevel</a:t>
            </a:r>
            <a:endParaRPr lang="en-US" sz="2000" dirty="0">
              <a:latin typeface="Trebuchet MS" panose="020B070302020209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Trebuchet MS" panose="020B0703020202090204" pitchFamily="34" charset="0"/>
              </a:rPr>
              <a:t>	</a:t>
            </a:r>
            <a:r>
              <a:rPr lang="en-US" sz="2000" dirty="0" err="1">
                <a:latin typeface="Trebuchet MS" panose="020B0703020202090204" pitchFamily="34" charset="0"/>
              </a:rPr>
              <a:t>StockOptionLevel</a:t>
            </a:r>
            <a:endParaRPr lang="en-US" sz="2000" dirty="0">
              <a:latin typeface="Trebuchet MS" panose="020B070302020209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Trebuchet MS" panose="020B0703020202090204" pitchFamily="34" charset="0"/>
              </a:rPr>
              <a:t>	</a:t>
            </a:r>
            <a:r>
              <a:rPr lang="en-US" sz="2000" dirty="0" err="1">
                <a:latin typeface="Trebuchet MS" panose="020B0703020202090204" pitchFamily="34" charset="0"/>
              </a:rPr>
              <a:t>JobSatisfaction</a:t>
            </a:r>
            <a:endParaRPr lang="en-US" sz="2000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806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66C74E-6099-3FDE-034B-D5C091B3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665835"/>
            <a:ext cx="10515600" cy="13480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Trebuchet MS" panose="020B0703020202090204" pitchFamily="34" charset="0"/>
              </a:rPr>
              <a:t>Conclusion</a:t>
            </a:r>
            <a:br>
              <a:rPr lang="en-US" sz="4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A8EEA-7C71-B48E-86AF-6363B07B72F0}"/>
              </a:ext>
            </a:extLst>
          </p:cNvPr>
          <p:cNvSpPr txBox="1"/>
          <p:nvPr/>
        </p:nvSpPr>
        <p:spPr>
          <a:xfrm>
            <a:off x="838200" y="2586789"/>
            <a:ext cx="10515600" cy="3590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50000"/>
              </a:lnSpc>
              <a:spcAft>
                <a:spcPts val="600"/>
              </a:spcAft>
            </a:pPr>
            <a:r>
              <a:rPr lang="en-US" sz="2200" dirty="0"/>
              <a:t>• Conducted full analysis of IBM HR Attrition dataset</a:t>
            </a:r>
            <a:br>
              <a:rPr lang="en-US" sz="2200" dirty="0"/>
            </a:br>
            <a:r>
              <a:rPr lang="en-US" sz="2200" dirty="0"/>
              <a:t>• Applied preprocessing, encoding, scaling &amp; SMOTE</a:t>
            </a:r>
            <a:br>
              <a:rPr lang="en-US" sz="2200" dirty="0"/>
            </a:br>
            <a:r>
              <a:rPr lang="en-US" sz="2200" dirty="0"/>
              <a:t>• Trained and compared 4 ML models</a:t>
            </a:r>
            <a:br>
              <a:rPr lang="en-US" sz="2200" dirty="0"/>
            </a:br>
            <a:r>
              <a:rPr lang="en-US" sz="2200" dirty="0"/>
              <a:t>• Identified </a:t>
            </a:r>
            <a:r>
              <a:rPr lang="en-US" sz="2200" dirty="0" err="1"/>
              <a:t>XGBoost</a:t>
            </a:r>
            <a:r>
              <a:rPr lang="en-US" sz="2200" dirty="0"/>
              <a:t> as the best-performing model</a:t>
            </a:r>
            <a:br>
              <a:rPr lang="en-US" sz="2200" dirty="0"/>
            </a:br>
            <a:r>
              <a:rPr lang="en-US" sz="2200" dirty="0"/>
              <a:t>• Insights help HR understand &amp; reduce employee attrition</a:t>
            </a:r>
            <a:br>
              <a:rPr lang="en-US" sz="2200" dirty="0"/>
            </a:br>
            <a:r>
              <a:rPr lang="en-US" sz="2200" dirty="0"/>
              <a:t>• Shows how ML can solve real business problems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16018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9916F7-A448-C7B2-B7B0-22FFAE9F3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082" y="323764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2"/>
                </a:solidFill>
                <a:latin typeface="Trebuchet MS" panose="020B0703020202090204" pitchFamily="34" charset="0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596B984C-929E-5B03-80E4-C5D7D40EA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7219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620</Words>
  <Application>Microsoft Macintosh PowerPoint</Application>
  <PresentationFormat>Widescreen</PresentationFormat>
  <Paragraphs>163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Trebuchet MS</vt:lpstr>
      <vt:lpstr>Office Theme</vt:lpstr>
      <vt:lpstr>“EMPLOYEE ATTRITION PREDICTION” </vt:lpstr>
      <vt:lpstr>Introduction</vt:lpstr>
      <vt:lpstr>Problem statement</vt:lpstr>
      <vt:lpstr>Dataset Description</vt:lpstr>
      <vt:lpstr>System Architecture Diagram</vt:lpstr>
      <vt:lpstr>Exploratory Data Analysis (EDA) </vt:lpstr>
      <vt:lpstr>Correlation Insights (Numerical Features)</vt:lpstr>
      <vt:lpstr>Data Preprocessing Pipeline</vt:lpstr>
      <vt:lpstr>Models Implemented </vt:lpstr>
      <vt:lpstr>Logistic Regression </vt:lpstr>
      <vt:lpstr>Decision Tree</vt:lpstr>
      <vt:lpstr>Random Forest </vt:lpstr>
      <vt:lpstr>XGBoost </vt:lpstr>
      <vt:lpstr>Model Performance Comparison</vt:lpstr>
      <vt:lpstr>PowerPoint Presentation</vt:lpstr>
      <vt:lpstr>Best Model &amp; Feature Importance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Bhushan, Mahima</dc:creator>
  <cp:lastModifiedBy>Bhushan, Mahima</cp:lastModifiedBy>
  <cp:revision>5</cp:revision>
  <dcterms:created xsi:type="dcterms:W3CDTF">2025-12-04T08:26:56Z</dcterms:created>
  <dcterms:modified xsi:type="dcterms:W3CDTF">2025-12-10T14:27:04Z</dcterms:modified>
</cp:coreProperties>
</file>